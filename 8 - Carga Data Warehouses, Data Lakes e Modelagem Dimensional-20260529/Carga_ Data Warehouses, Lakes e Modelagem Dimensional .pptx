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</p:sldIdLst>
  <p:sldSz cy="6858000" cx="12192000"/>
  <p:notesSz cx="6858000" cy="9144000"/>
  <p:embeddedFontLst>
    <p:embeddedFont>
      <p:font typeface="Play"/>
      <p:regular r:id="rId53"/>
      <p:bold r:id="rId54"/>
    </p:embeddedFont>
    <p:embeddedFont>
      <p:font typeface="JetBrains Mono"/>
      <p:regular r:id="rId55"/>
      <p:bold r:id="rId56"/>
      <p:italic r:id="rId57"/>
      <p:boldItalic r:id="rId58"/>
    </p:embeddedFont>
    <p:embeddedFont>
      <p:font typeface="Century Gothic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3" roundtripDataSignature="AMtx7mhXQbcQvT8vRiC+A4TuCLwW2o02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CenturyGothic-boldItalic.fntdata"/><Relationship Id="rId61" Type="http://schemas.openxmlformats.org/officeDocument/2006/relationships/font" Target="fonts/CenturyGothic-italic.fntdata"/><Relationship Id="rId20" Type="http://schemas.openxmlformats.org/officeDocument/2006/relationships/slide" Target="slides/slide16.xml"/><Relationship Id="rId63" Type="http://customschemas.google.com/relationships/presentationmetadata" Target="meta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CenturyGothic-bold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font" Target="fonts/Play-regular.fntdata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font" Target="fonts/JetBrainsMono-regular.fntdata"/><Relationship Id="rId10" Type="http://schemas.openxmlformats.org/officeDocument/2006/relationships/slide" Target="slides/slide6.xml"/><Relationship Id="rId54" Type="http://schemas.openxmlformats.org/officeDocument/2006/relationships/font" Target="fonts/Play-bold.fntdata"/><Relationship Id="rId13" Type="http://schemas.openxmlformats.org/officeDocument/2006/relationships/slide" Target="slides/slide9.xml"/><Relationship Id="rId57" Type="http://schemas.openxmlformats.org/officeDocument/2006/relationships/font" Target="fonts/JetBrainsMono-italic.fntdata"/><Relationship Id="rId12" Type="http://schemas.openxmlformats.org/officeDocument/2006/relationships/slide" Target="slides/slide8.xml"/><Relationship Id="rId56" Type="http://schemas.openxmlformats.org/officeDocument/2006/relationships/font" Target="fonts/JetBrainsMono-bold.fntdata"/><Relationship Id="rId15" Type="http://schemas.openxmlformats.org/officeDocument/2006/relationships/slide" Target="slides/slide11.xml"/><Relationship Id="rId59" Type="http://schemas.openxmlformats.org/officeDocument/2006/relationships/font" Target="fonts/CenturyGothic-regular.fntdata"/><Relationship Id="rId14" Type="http://schemas.openxmlformats.org/officeDocument/2006/relationships/slide" Target="slides/slide10.xml"/><Relationship Id="rId58" Type="http://schemas.openxmlformats.org/officeDocument/2006/relationships/font" Target="fonts/JetBrainsMono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7fc402ca7_0_3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g3d7fc402ca7_0_3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a94e5756f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g3da94e5756f_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a94e5756f_0_1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3da94e5756f_0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81c96dee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g3d81c96dee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a94e5756f_0_1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g3da94e5756f_0_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a94e5756f_0_2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3da94e5756f_0_2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a94e5756f_0_1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g3da94e5756f_0_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a94e5756f_0_1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da94e5756f_0_1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a94e5756f_0_1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da94e5756f_0_1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a94e5756f_0_1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g3da94e5756f_0_1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a94e5756f_0_2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g3da94e5756f_0_2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a5c73607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39a5c73607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a5c736075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g39a5c736075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a94e5756f_0_1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da94e5756f_0_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a5c736075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g39a5c736075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a5c736075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g39a5c736075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a5c736075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g39a5c736075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a5c736075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39a5c736075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9a5c736075_0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g39a5c736075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9a5c736075_0_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g39a5c736075_0_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a5c736075_0_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g39a5c736075_0_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9a5c736075_0_1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g39a5c736075_0_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9a5c736075_0_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g39a5c736075_0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9a5c736075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g39a5c736075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9a5c736075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g39a5c736075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f1bd60aa5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df1bd60aa5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df1bd60aa5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f1bd60aa5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g3df1bd60aa5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9a5c736075_0_1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g39a5c736075_0_1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9a5c736075_0_1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g39a5c736075_0_1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9a5c736075_0_1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g39a5c736075_0_1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db0c4ec037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g3db0c4ec037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db0c4ec037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g3db0c4ec037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db0c4ec037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g3db0c4ec037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db0c4ec037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g3db0c4ec037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db0c4ec037_0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3" name="Google Shape;373;g3db0c4ec037_0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db0c4ec037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g3db0c4ec037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9a8c5b701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9" name="Google Shape;389;g39a8c5b701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9a8c5b7014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g39a8c5b7014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9a8c5b7014_0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3" name="Google Shape;413;g39a8c5b7014_0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9a8c5b7014_0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g39a8c5b7014_0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9a8c5b7014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g39a8c5b7014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9a8c5b7014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g39a8c5b7014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9a8c5b7014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2" name="Google Shape;452;g39a8c5b7014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9a8c5b7014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0" name="Google Shape;460;g39a8c5b7014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df1bd60aa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9" name="Google Shape;469;g3df1bd60aa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9a5c736075_0_1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9" name="Google Shape;479;g39a5c736075_0_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5" name="Google Shape;4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linkedin.com/school/unisenaisc/posts/?feedView=all" TargetMode="External"/><Relationship Id="rId3" Type="http://schemas.openxmlformats.org/officeDocument/2006/relationships/hyperlink" Target="https://www.facebook.com/unisenai.sc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s://www.instagram.com/unisenai.sc?igsh=NnAxOTZnNHA5ZjE4" TargetMode="External"/><Relationship Id="rId6" Type="http://schemas.openxmlformats.org/officeDocument/2006/relationships/hyperlink" Target="https://www.youtube.com/@senaiconhecimento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Layout Personalizado">
  <p:cSld name="2_Layout Personalizado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99847" y="895155"/>
            <a:ext cx="5345501" cy="99420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0"/>
          <p:cNvSpPr/>
          <p:nvPr/>
        </p:nvSpPr>
        <p:spPr>
          <a:xfrm>
            <a:off x="9517626" y="216310"/>
            <a:ext cx="2300748" cy="1022555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0"/>
          <p:cNvSpPr txBox="1"/>
          <p:nvPr>
            <p:ph idx="1" type="body"/>
          </p:nvPr>
        </p:nvSpPr>
        <p:spPr>
          <a:xfrm>
            <a:off x="1083773" y="3986948"/>
            <a:ext cx="8915400" cy="1500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8490F"/>
              </a:buClr>
              <a:buSzPts val="6600"/>
              <a:buFont typeface="Arial"/>
              <a:buNone/>
              <a:defRPr b="0" i="0" sz="6600" u="none" cap="none" strike="noStrike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Layout Personalizado 1">
  <p:cSld name="2_Layout Personalizado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g396cf6f67ca_0_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86900" y="2336775"/>
            <a:ext cx="9677047" cy="1799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g396cf6f67ca_0_8"/>
          <p:cNvSpPr/>
          <p:nvPr/>
        </p:nvSpPr>
        <p:spPr>
          <a:xfrm>
            <a:off x="9517626" y="216310"/>
            <a:ext cx="2300700" cy="1022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Personalizado">
  <p:cSld name="Layout Personalizado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896400" y="453600"/>
            <a:ext cx="7772401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" name="Google Shape;26;p14"/>
          <p:cNvSpPr txBox="1"/>
          <p:nvPr>
            <p:ph idx="1" type="body"/>
          </p:nvPr>
        </p:nvSpPr>
        <p:spPr>
          <a:xfrm>
            <a:off x="1101600" y="1890000"/>
            <a:ext cx="8661832" cy="1678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4"/>
          <p:cNvSpPr txBox="1"/>
          <p:nvPr>
            <p:ph idx="2" type="body"/>
          </p:nvPr>
        </p:nvSpPr>
        <p:spPr>
          <a:xfrm>
            <a:off x="1101600" y="4644000"/>
            <a:ext cx="8661832" cy="757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8490F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8" name="Google Shape;28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970" y="1"/>
            <a:ext cx="430547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ayout Personalizado">
  <p:cSld name="1_Layout Personalizado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896400" y="453600"/>
            <a:ext cx="7772401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" name="Google Shape;34;p15"/>
          <p:cNvSpPr txBox="1"/>
          <p:nvPr>
            <p:ph idx="1" type="body"/>
          </p:nvPr>
        </p:nvSpPr>
        <p:spPr>
          <a:xfrm>
            <a:off x="1101600" y="1890000"/>
            <a:ext cx="4680000" cy="23432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5"/>
          <p:cNvSpPr txBox="1"/>
          <p:nvPr>
            <p:ph idx="2" type="body"/>
          </p:nvPr>
        </p:nvSpPr>
        <p:spPr>
          <a:xfrm>
            <a:off x="1101600" y="4644000"/>
            <a:ext cx="4680000" cy="10970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15"/>
          <p:cNvSpPr/>
          <p:nvPr>
            <p:ph idx="3" type="pic"/>
          </p:nvPr>
        </p:nvSpPr>
        <p:spPr>
          <a:xfrm>
            <a:off x="6174659" y="1206037"/>
            <a:ext cx="5840360" cy="5037447"/>
          </a:xfrm>
          <a:prstGeom prst="rect">
            <a:avLst/>
          </a:prstGeom>
          <a:noFill/>
          <a:ln>
            <a:noFill/>
          </a:ln>
        </p:spPr>
      </p:sp>
      <p:pic>
        <p:nvPicPr>
          <p:cNvPr id="37" name="Google Shape;3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970" y="1"/>
            <a:ext cx="430547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>
  <p:cSld name="Título e Conteúdo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2977019" y="3482147"/>
            <a:ext cx="398835" cy="6352871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6"/>
          <p:cNvSpPr txBox="1"/>
          <p:nvPr>
            <p:ph idx="1" type="body"/>
          </p:nvPr>
        </p:nvSpPr>
        <p:spPr>
          <a:xfrm>
            <a:off x="6664680" y="1335158"/>
            <a:ext cx="5200218" cy="1528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AD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CA3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16"/>
          <p:cNvSpPr txBox="1"/>
          <p:nvPr>
            <p:ph idx="2" type="body"/>
          </p:nvPr>
        </p:nvSpPr>
        <p:spPr>
          <a:xfrm>
            <a:off x="6664680" y="2863921"/>
            <a:ext cx="5200218" cy="1528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AD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CA3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16"/>
          <p:cNvSpPr txBox="1"/>
          <p:nvPr>
            <p:ph idx="3" type="body"/>
          </p:nvPr>
        </p:nvSpPr>
        <p:spPr>
          <a:xfrm>
            <a:off x="6664680" y="4392684"/>
            <a:ext cx="5200218" cy="1528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AD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CA3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16"/>
          <p:cNvSpPr txBox="1"/>
          <p:nvPr>
            <p:ph idx="4" type="body"/>
          </p:nvPr>
        </p:nvSpPr>
        <p:spPr>
          <a:xfrm>
            <a:off x="580103" y="1800490"/>
            <a:ext cx="4627563" cy="3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Layout Personalizado">
  <p:cSld name="3_Layout Personalizado">
    <p:bg>
      <p:bgPr>
        <a:solidFill>
          <a:srgbClr val="004CA3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/>
          <p:nvPr/>
        </p:nvSpPr>
        <p:spPr>
          <a:xfrm>
            <a:off x="9646920" y="328398"/>
            <a:ext cx="2300748" cy="1022555"/>
          </a:xfrm>
          <a:prstGeom prst="rect">
            <a:avLst/>
          </a:prstGeom>
          <a:solidFill>
            <a:srgbClr val="004CA3"/>
          </a:solidFill>
          <a:ln cap="flat" cmpd="sng" w="19050">
            <a:solidFill>
              <a:srgbClr val="004CA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" name="Google Shape;46;p17"/>
          <p:cNvCxnSpPr/>
          <p:nvPr/>
        </p:nvCxnSpPr>
        <p:spPr>
          <a:xfrm>
            <a:off x="5797686" y="2391974"/>
            <a:ext cx="0" cy="2333926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" name="Google Shape;47;p17">
            <a:hlinkClick r:id="rId2"/>
          </p:cNvPr>
          <p:cNvSpPr/>
          <p:nvPr/>
        </p:nvSpPr>
        <p:spPr>
          <a:xfrm>
            <a:off x="6832767" y="4459200"/>
            <a:ext cx="271422" cy="262469"/>
          </a:xfrm>
          <a:custGeom>
            <a:rect b="b" l="l" r="r" t="t"/>
            <a:pathLst>
              <a:path extrusionOk="0" h="262469" w="271422">
                <a:moveTo>
                  <a:pt x="221018" y="186690"/>
                </a:moveTo>
                <a:lnTo>
                  <a:pt x="184023" y="186690"/>
                </a:lnTo>
                <a:lnTo>
                  <a:pt x="184023" y="129763"/>
                </a:lnTo>
                <a:lnTo>
                  <a:pt x="182977" y="125349"/>
                </a:lnTo>
                <a:lnTo>
                  <a:pt x="181455" y="121946"/>
                </a:lnTo>
                <a:lnTo>
                  <a:pt x="179458" y="118544"/>
                </a:lnTo>
                <a:lnTo>
                  <a:pt x="176985" y="116152"/>
                </a:lnTo>
                <a:lnTo>
                  <a:pt x="173467" y="114221"/>
                </a:lnTo>
                <a:lnTo>
                  <a:pt x="169948" y="112290"/>
                </a:lnTo>
                <a:lnTo>
                  <a:pt x="161484" y="112290"/>
                </a:lnTo>
                <a:lnTo>
                  <a:pt x="159011" y="113302"/>
                </a:lnTo>
                <a:lnTo>
                  <a:pt x="153495" y="116244"/>
                </a:lnTo>
                <a:lnTo>
                  <a:pt x="149976" y="120659"/>
                </a:lnTo>
                <a:lnTo>
                  <a:pt x="147979" y="125073"/>
                </a:lnTo>
                <a:lnTo>
                  <a:pt x="147504" y="128476"/>
                </a:lnTo>
                <a:lnTo>
                  <a:pt x="147504" y="186782"/>
                </a:lnTo>
                <a:lnTo>
                  <a:pt x="110509" y="186782"/>
                </a:lnTo>
                <a:lnTo>
                  <a:pt x="110509" y="86172"/>
                </a:lnTo>
                <a:lnTo>
                  <a:pt x="147504" y="86172"/>
                </a:lnTo>
                <a:lnTo>
                  <a:pt x="147504" y="102174"/>
                </a:lnTo>
                <a:lnTo>
                  <a:pt x="147979" y="99231"/>
                </a:lnTo>
                <a:lnTo>
                  <a:pt x="149976" y="96840"/>
                </a:lnTo>
                <a:lnTo>
                  <a:pt x="153495" y="94449"/>
                </a:lnTo>
                <a:lnTo>
                  <a:pt x="157014" y="91506"/>
                </a:lnTo>
                <a:lnTo>
                  <a:pt x="161484" y="89115"/>
                </a:lnTo>
                <a:lnTo>
                  <a:pt x="167000" y="87183"/>
                </a:lnTo>
                <a:lnTo>
                  <a:pt x="173467" y="86172"/>
                </a:lnTo>
                <a:lnTo>
                  <a:pt x="179458" y="85712"/>
                </a:lnTo>
                <a:lnTo>
                  <a:pt x="187447" y="86172"/>
                </a:lnTo>
                <a:lnTo>
                  <a:pt x="195911" y="88103"/>
                </a:lnTo>
                <a:lnTo>
                  <a:pt x="202948" y="91506"/>
                </a:lnTo>
                <a:lnTo>
                  <a:pt x="209415" y="96840"/>
                </a:lnTo>
                <a:lnTo>
                  <a:pt x="213885" y="103185"/>
                </a:lnTo>
                <a:lnTo>
                  <a:pt x="218355" y="111002"/>
                </a:lnTo>
                <a:lnTo>
                  <a:pt x="219877" y="120751"/>
                </a:lnTo>
                <a:lnTo>
                  <a:pt x="220923" y="130959"/>
                </a:lnTo>
                <a:lnTo>
                  <a:pt x="220923" y="186874"/>
                </a:lnTo>
                <a:close/>
                <a:moveTo>
                  <a:pt x="72944" y="73940"/>
                </a:moveTo>
                <a:lnTo>
                  <a:pt x="72944" y="73940"/>
                </a:lnTo>
                <a:lnTo>
                  <a:pt x="68949" y="73480"/>
                </a:lnTo>
                <a:lnTo>
                  <a:pt x="64479" y="72469"/>
                </a:lnTo>
                <a:lnTo>
                  <a:pt x="62007" y="70538"/>
                </a:lnTo>
                <a:lnTo>
                  <a:pt x="58488" y="69066"/>
                </a:lnTo>
                <a:lnTo>
                  <a:pt x="56491" y="66123"/>
                </a:lnTo>
                <a:lnTo>
                  <a:pt x="54969" y="63732"/>
                </a:lnTo>
                <a:lnTo>
                  <a:pt x="53923" y="60329"/>
                </a:lnTo>
                <a:lnTo>
                  <a:pt x="53923" y="53064"/>
                </a:lnTo>
                <a:lnTo>
                  <a:pt x="54969" y="49661"/>
                </a:lnTo>
                <a:lnTo>
                  <a:pt x="56491" y="47270"/>
                </a:lnTo>
                <a:lnTo>
                  <a:pt x="59534" y="44327"/>
                </a:lnTo>
                <a:lnTo>
                  <a:pt x="62007" y="41936"/>
                </a:lnTo>
                <a:lnTo>
                  <a:pt x="65525" y="40005"/>
                </a:lnTo>
                <a:lnTo>
                  <a:pt x="69044" y="38993"/>
                </a:lnTo>
                <a:lnTo>
                  <a:pt x="78079" y="38993"/>
                </a:lnTo>
                <a:lnTo>
                  <a:pt x="81598" y="40005"/>
                </a:lnTo>
                <a:lnTo>
                  <a:pt x="85592" y="41936"/>
                </a:lnTo>
                <a:lnTo>
                  <a:pt x="88065" y="44327"/>
                </a:lnTo>
                <a:lnTo>
                  <a:pt x="90062" y="47270"/>
                </a:lnTo>
                <a:lnTo>
                  <a:pt x="91584" y="49661"/>
                </a:lnTo>
                <a:lnTo>
                  <a:pt x="92630" y="53064"/>
                </a:lnTo>
                <a:lnTo>
                  <a:pt x="93676" y="56467"/>
                </a:lnTo>
                <a:lnTo>
                  <a:pt x="92630" y="60329"/>
                </a:lnTo>
                <a:lnTo>
                  <a:pt x="91584" y="63732"/>
                </a:lnTo>
                <a:lnTo>
                  <a:pt x="90062" y="66123"/>
                </a:lnTo>
                <a:lnTo>
                  <a:pt x="88065" y="69066"/>
                </a:lnTo>
                <a:lnTo>
                  <a:pt x="85592" y="70538"/>
                </a:lnTo>
                <a:lnTo>
                  <a:pt x="81598" y="72469"/>
                </a:lnTo>
                <a:lnTo>
                  <a:pt x="77128" y="73480"/>
                </a:lnTo>
                <a:lnTo>
                  <a:pt x="73134" y="73940"/>
                </a:lnTo>
                <a:close/>
                <a:moveTo>
                  <a:pt x="90442" y="186690"/>
                </a:moveTo>
                <a:lnTo>
                  <a:pt x="57442" y="186690"/>
                </a:lnTo>
                <a:lnTo>
                  <a:pt x="57442" y="86080"/>
                </a:lnTo>
                <a:lnTo>
                  <a:pt x="90442" y="86080"/>
                </a:lnTo>
                <a:lnTo>
                  <a:pt x="90442" y="186690"/>
                </a:lnTo>
                <a:close/>
                <a:moveTo>
                  <a:pt x="135521" y="0"/>
                </a:moveTo>
                <a:lnTo>
                  <a:pt x="122016" y="0"/>
                </a:lnTo>
                <a:lnTo>
                  <a:pt x="108512" y="2391"/>
                </a:lnTo>
                <a:lnTo>
                  <a:pt x="95007" y="4782"/>
                </a:lnTo>
                <a:lnTo>
                  <a:pt x="82549" y="10116"/>
                </a:lnTo>
                <a:lnTo>
                  <a:pt x="71041" y="15450"/>
                </a:lnTo>
                <a:lnTo>
                  <a:pt x="60010" y="21796"/>
                </a:lnTo>
                <a:lnTo>
                  <a:pt x="49548" y="29613"/>
                </a:lnTo>
                <a:lnTo>
                  <a:pt x="39563" y="38350"/>
                </a:lnTo>
                <a:lnTo>
                  <a:pt x="31574" y="47546"/>
                </a:lnTo>
                <a:lnTo>
                  <a:pt x="23585" y="57295"/>
                </a:lnTo>
                <a:lnTo>
                  <a:pt x="16072" y="68974"/>
                </a:lnTo>
                <a:lnTo>
                  <a:pt x="11032" y="80194"/>
                </a:lnTo>
                <a:lnTo>
                  <a:pt x="6562" y="92333"/>
                </a:lnTo>
                <a:lnTo>
                  <a:pt x="2568" y="104473"/>
                </a:lnTo>
                <a:lnTo>
                  <a:pt x="1046" y="117624"/>
                </a:lnTo>
                <a:lnTo>
                  <a:pt x="0" y="131695"/>
                </a:lnTo>
                <a:lnTo>
                  <a:pt x="1046" y="144846"/>
                </a:lnTo>
                <a:lnTo>
                  <a:pt x="2568" y="157997"/>
                </a:lnTo>
                <a:lnTo>
                  <a:pt x="6562" y="170136"/>
                </a:lnTo>
                <a:lnTo>
                  <a:pt x="11032" y="182276"/>
                </a:lnTo>
                <a:lnTo>
                  <a:pt x="16072" y="193495"/>
                </a:lnTo>
                <a:lnTo>
                  <a:pt x="23585" y="205175"/>
                </a:lnTo>
                <a:lnTo>
                  <a:pt x="31574" y="214923"/>
                </a:lnTo>
                <a:lnTo>
                  <a:pt x="39563" y="224120"/>
                </a:lnTo>
                <a:lnTo>
                  <a:pt x="49548" y="232857"/>
                </a:lnTo>
                <a:lnTo>
                  <a:pt x="60010" y="240674"/>
                </a:lnTo>
                <a:lnTo>
                  <a:pt x="71041" y="247019"/>
                </a:lnTo>
                <a:lnTo>
                  <a:pt x="82549" y="252353"/>
                </a:lnTo>
                <a:lnTo>
                  <a:pt x="95007" y="257687"/>
                </a:lnTo>
                <a:lnTo>
                  <a:pt x="108512" y="260078"/>
                </a:lnTo>
                <a:lnTo>
                  <a:pt x="122016" y="262470"/>
                </a:lnTo>
                <a:lnTo>
                  <a:pt x="149976" y="262470"/>
                </a:lnTo>
                <a:lnTo>
                  <a:pt x="162435" y="260078"/>
                </a:lnTo>
                <a:lnTo>
                  <a:pt x="175939" y="257687"/>
                </a:lnTo>
                <a:lnTo>
                  <a:pt x="188398" y="252353"/>
                </a:lnTo>
                <a:lnTo>
                  <a:pt x="200381" y="247019"/>
                </a:lnTo>
                <a:lnTo>
                  <a:pt x="210842" y="240674"/>
                </a:lnTo>
                <a:lnTo>
                  <a:pt x="221874" y="232857"/>
                </a:lnTo>
                <a:lnTo>
                  <a:pt x="231384" y="224120"/>
                </a:lnTo>
                <a:lnTo>
                  <a:pt x="239848" y="214923"/>
                </a:lnTo>
                <a:lnTo>
                  <a:pt x="247837" y="205175"/>
                </a:lnTo>
                <a:lnTo>
                  <a:pt x="254874" y="193495"/>
                </a:lnTo>
                <a:lnTo>
                  <a:pt x="260390" y="182276"/>
                </a:lnTo>
                <a:lnTo>
                  <a:pt x="264860" y="170136"/>
                </a:lnTo>
                <a:lnTo>
                  <a:pt x="268379" y="157997"/>
                </a:lnTo>
                <a:lnTo>
                  <a:pt x="270376" y="144846"/>
                </a:lnTo>
                <a:lnTo>
                  <a:pt x="271422" y="131695"/>
                </a:lnTo>
                <a:lnTo>
                  <a:pt x="270376" y="117624"/>
                </a:lnTo>
                <a:lnTo>
                  <a:pt x="268379" y="104473"/>
                </a:lnTo>
                <a:lnTo>
                  <a:pt x="264860" y="92333"/>
                </a:lnTo>
                <a:lnTo>
                  <a:pt x="260390" y="80194"/>
                </a:lnTo>
                <a:lnTo>
                  <a:pt x="254874" y="68974"/>
                </a:lnTo>
                <a:lnTo>
                  <a:pt x="247837" y="57295"/>
                </a:lnTo>
                <a:lnTo>
                  <a:pt x="239848" y="47546"/>
                </a:lnTo>
                <a:lnTo>
                  <a:pt x="231384" y="38350"/>
                </a:lnTo>
                <a:lnTo>
                  <a:pt x="221874" y="29613"/>
                </a:lnTo>
                <a:lnTo>
                  <a:pt x="210842" y="21796"/>
                </a:lnTo>
                <a:lnTo>
                  <a:pt x="200381" y="15450"/>
                </a:lnTo>
                <a:lnTo>
                  <a:pt x="188398" y="10116"/>
                </a:lnTo>
                <a:lnTo>
                  <a:pt x="175939" y="4782"/>
                </a:lnTo>
                <a:lnTo>
                  <a:pt x="162435" y="2391"/>
                </a:lnTo>
                <a:lnTo>
                  <a:pt x="149976" y="0"/>
                </a:lnTo>
                <a:lnTo>
                  <a:pt x="13552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7">
            <a:hlinkClick r:id="rId3"/>
          </p:cNvPr>
          <p:cNvSpPr/>
          <p:nvPr/>
        </p:nvSpPr>
        <p:spPr>
          <a:xfrm>
            <a:off x="6096095" y="4459475"/>
            <a:ext cx="270946" cy="262009"/>
          </a:xfrm>
          <a:custGeom>
            <a:rect b="b" l="l" r="r" t="t"/>
            <a:pathLst>
              <a:path extrusionOk="0" h="262009" w="270946">
                <a:moveTo>
                  <a:pt x="172040" y="130499"/>
                </a:moveTo>
                <a:lnTo>
                  <a:pt x="147409" y="130499"/>
                </a:lnTo>
                <a:lnTo>
                  <a:pt x="147409" y="211521"/>
                </a:lnTo>
                <a:lnTo>
                  <a:pt x="113267" y="211521"/>
                </a:lnTo>
                <a:lnTo>
                  <a:pt x="113267" y="130499"/>
                </a:lnTo>
                <a:lnTo>
                  <a:pt x="96244" y="130499"/>
                </a:lnTo>
                <a:lnTo>
                  <a:pt x="96244" y="101898"/>
                </a:lnTo>
                <a:lnTo>
                  <a:pt x="113267" y="101898"/>
                </a:lnTo>
                <a:lnTo>
                  <a:pt x="113267" y="78079"/>
                </a:lnTo>
                <a:lnTo>
                  <a:pt x="114313" y="72285"/>
                </a:lnTo>
                <a:lnTo>
                  <a:pt x="116786" y="66951"/>
                </a:lnTo>
                <a:lnTo>
                  <a:pt x="119829" y="60605"/>
                </a:lnTo>
                <a:lnTo>
                  <a:pt x="124299" y="56283"/>
                </a:lnTo>
                <a:lnTo>
                  <a:pt x="130290" y="52880"/>
                </a:lnTo>
                <a:lnTo>
                  <a:pt x="138279" y="50489"/>
                </a:lnTo>
                <a:lnTo>
                  <a:pt x="148360" y="49477"/>
                </a:lnTo>
                <a:lnTo>
                  <a:pt x="174418" y="49477"/>
                </a:lnTo>
                <a:lnTo>
                  <a:pt x="174418" y="77619"/>
                </a:lnTo>
                <a:lnTo>
                  <a:pt x="152829" y="77619"/>
                </a:lnTo>
                <a:lnTo>
                  <a:pt x="150357" y="78079"/>
                </a:lnTo>
                <a:lnTo>
                  <a:pt x="148360" y="81022"/>
                </a:lnTo>
                <a:lnTo>
                  <a:pt x="147314" y="85344"/>
                </a:lnTo>
                <a:lnTo>
                  <a:pt x="147314" y="101806"/>
                </a:lnTo>
                <a:lnTo>
                  <a:pt x="174418" y="101806"/>
                </a:lnTo>
                <a:lnTo>
                  <a:pt x="171945" y="130407"/>
                </a:lnTo>
                <a:close/>
                <a:moveTo>
                  <a:pt x="135901" y="0"/>
                </a:moveTo>
                <a:lnTo>
                  <a:pt x="121351" y="0"/>
                </a:lnTo>
                <a:lnTo>
                  <a:pt x="107846" y="2391"/>
                </a:lnTo>
                <a:lnTo>
                  <a:pt x="95293" y="4782"/>
                </a:lnTo>
                <a:lnTo>
                  <a:pt x="82739" y="10116"/>
                </a:lnTo>
                <a:lnTo>
                  <a:pt x="71232" y="15450"/>
                </a:lnTo>
                <a:lnTo>
                  <a:pt x="59154" y="21796"/>
                </a:lnTo>
                <a:lnTo>
                  <a:pt x="49073" y="29521"/>
                </a:lnTo>
                <a:lnTo>
                  <a:pt x="39563" y="38258"/>
                </a:lnTo>
                <a:lnTo>
                  <a:pt x="30528" y="47454"/>
                </a:lnTo>
                <a:lnTo>
                  <a:pt x="23015" y="57203"/>
                </a:lnTo>
                <a:lnTo>
                  <a:pt x="15977" y="68882"/>
                </a:lnTo>
                <a:lnTo>
                  <a:pt x="10461" y="80010"/>
                </a:lnTo>
                <a:lnTo>
                  <a:pt x="5991" y="92149"/>
                </a:lnTo>
                <a:lnTo>
                  <a:pt x="2473" y="104289"/>
                </a:lnTo>
                <a:lnTo>
                  <a:pt x="476" y="117440"/>
                </a:lnTo>
                <a:lnTo>
                  <a:pt x="0" y="131511"/>
                </a:lnTo>
                <a:lnTo>
                  <a:pt x="476" y="144570"/>
                </a:lnTo>
                <a:lnTo>
                  <a:pt x="2473" y="157721"/>
                </a:lnTo>
                <a:lnTo>
                  <a:pt x="5991" y="169860"/>
                </a:lnTo>
                <a:lnTo>
                  <a:pt x="10461" y="182000"/>
                </a:lnTo>
                <a:lnTo>
                  <a:pt x="15977" y="193128"/>
                </a:lnTo>
                <a:lnTo>
                  <a:pt x="23015" y="204807"/>
                </a:lnTo>
                <a:lnTo>
                  <a:pt x="30528" y="214556"/>
                </a:lnTo>
                <a:lnTo>
                  <a:pt x="39563" y="223752"/>
                </a:lnTo>
                <a:lnTo>
                  <a:pt x="49073" y="232489"/>
                </a:lnTo>
                <a:lnTo>
                  <a:pt x="59154" y="240214"/>
                </a:lnTo>
                <a:lnTo>
                  <a:pt x="71232" y="246560"/>
                </a:lnTo>
                <a:lnTo>
                  <a:pt x="82739" y="251894"/>
                </a:lnTo>
                <a:lnTo>
                  <a:pt x="95293" y="257228"/>
                </a:lnTo>
                <a:lnTo>
                  <a:pt x="107846" y="259619"/>
                </a:lnTo>
                <a:lnTo>
                  <a:pt x="121351" y="262010"/>
                </a:lnTo>
                <a:lnTo>
                  <a:pt x="149501" y="262010"/>
                </a:lnTo>
                <a:lnTo>
                  <a:pt x="163005" y="259619"/>
                </a:lnTo>
                <a:lnTo>
                  <a:pt x="176605" y="257228"/>
                </a:lnTo>
                <a:lnTo>
                  <a:pt x="188112" y="251894"/>
                </a:lnTo>
                <a:lnTo>
                  <a:pt x="200666" y="246560"/>
                </a:lnTo>
                <a:lnTo>
                  <a:pt x="211698" y="240214"/>
                </a:lnTo>
                <a:lnTo>
                  <a:pt x="222254" y="232489"/>
                </a:lnTo>
                <a:lnTo>
                  <a:pt x="231289" y="223752"/>
                </a:lnTo>
                <a:lnTo>
                  <a:pt x="240324" y="214556"/>
                </a:lnTo>
                <a:lnTo>
                  <a:pt x="248312" y="204807"/>
                </a:lnTo>
                <a:lnTo>
                  <a:pt x="254874" y="193128"/>
                </a:lnTo>
                <a:lnTo>
                  <a:pt x="261436" y="182000"/>
                </a:lnTo>
                <a:lnTo>
                  <a:pt x="266001" y="169860"/>
                </a:lnTo>
                <a:lnTo>
                  <a:pt x="268474" y="157721"/>
                </a:lnTo>
                <a:lnTo>
                  <a:pt x="270947" y="144570"/>
                </a:lnTo>
                <a:lnTo>
                  <a:pt x="270947" y="117348"/>
                </a:lnTo>
                <a:lnTo>
                  <a:pt x="268474" y="104197"/>
                </a:lnTo>
                <a:lnTo>
                  <a:pt x="266001" y="92057"/>
                </a:lnTo>
                <a:lnTo>
                  <a:pt x="261436" y="79918"/>
                </a:lnTo>
                <a:lnTo>
                  <a:pt x="254874" y="68790"/>
                </a:lnTo>
                <a:lnTo>
                  <a:pt x="248312" y="57111"/>
                </a:lnTo>
                <a:lnTo>
                  <a:pt x="240324" y="47362"/>
                </a:lnTo>
                <a:lnTo>
                  <a:pt x="231289" y="38166"/>
                </a:lnTo>
                <a:lnTo>
                  <a:pt x="222254" y="29429"/>
                </a:lnTo>
                <a:lnTo>
                  <a:pt x="211698" y="21704"/>
                </a:lnTo>
                <a:lnTo>
                  <a:pt x="200666" y="15358"/>
                </a:lnTo>
                <a:lnTo>
                  <a:pt x="188112" y="10024"/>
                </a:lnTo>
                <a:lnTo>
                  <a:pt x="176605" y="4690"/>
                </a:lnTo>
                <a:lnTo>
                  <a:pt x="163005" y="2299"/>
                </a:lnTo>
                <a:lnTo>
                  <a:pt x="149501" y="0"/>
                </a:lnTo>
                <a:lnTo>
                  <a:pt x="13590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17"/>
          <p:cNvGrpSpPr/>
          <p:nvPr/>
        </p:nvGrpSpPr>
        <p:grpSpPr>
          <a:xfrm>
            <a:off x="7187498" y="4459475"/>
            <a:ext cx="271041" cy="262101"/>
            <a:chOff x="7514070" y="4459475"/>
            <a:chExt cx="271041" cy="262101"/>
          </a:xfrm>
        </p:grpSpPr>
        <p:sp>
          <p:nvSpPr>
            <p:cNvPr id="50" name="Google Shape;50;p17"/>
            <p:cNvSpPr/>
            <p:nvPr/>
          </p:nvSpPr>
          <p:spPr>
            <a:xfrm>
              <a:off x="7630000" y="4566667"/>
              <a:ext cx="53052" cy="48821"/>
            </a:xfrm>
            <a:custGeom>
              <a:rect b="b" l="l" r="r" t="t"/>
              <a:pathLst>
                <a:path extrusionOk="0" h="48821" w="53052">
                  <a:moveTo>
                    <a:pt x="50404" y="22755"/>
                  </a:moveTo>
                  <a:lnTo>
                    <a:pt x="7703" y="316"/>
                  </a:lnTo>
                  <a:cubicBezTo>
                    <a:pt x="5991" y="-604"/>
                    <a:pt x="0" y="592"/>
                    <a:pt x="0" y="2523"/>
                  </a:cubicBezTo>
                  <a:lnTo>
                    <a:pt x="0" y="46299"/>
                  </a:lnTo>
                  <a:cubicBezTo>
                    <a:pt x="0" y="48230"/>
                    <a:pt x="5896" y="49425"/>
                    <a:pt x="7703" y="48506"/>
                  </a:cubicBezTo>
                  <a:lnTo>
                    <a:pt x="52306" y="27170"/>
                  </a:lnTo>
                  <a:cubicBezTo>
                    <a:pt x="54113" y="26250"/>
                    <a:pt x="52306" y="23675"/>
                    <a:pt x="50404" y="227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7"/>
            <p:cNvSpPr/>
            <p:nvPr/>
          </p:nvSpPr>
          <p:spPr>
            <a:xfrm>
              <a:off x="7514070" y="4459475"/>
              <a:ext cx="271041" cy="262101"/>
            </a:xfrm>
            <a:custGeom>
              <a:rect b="b" l="l" r="r" t="t"/>
              <a:pathLst>
                <a:path extrusionOk="0" h="262101" w="271041">
                  <a:moveTo>
                    <a:pt x="135521" y="0"/>
                  </a:moveTo>
                  <a:cubicBezTo>
                    <a:pt x="60675" y="0"/>
                    <a:pt x="0" y="58674"/>
                    <a:pt x="0" y="131051"/>
                  </a:cubicBezTo>
                  <a:cubicBezTo>
                    <a:pt x="0" y="203428"/>
                    <a:pt x="60675" y="262102"/>
                    <a:pt x="135521" y="262102"/>
                  </a:cubicBezTo>
                  <a:cubicBezTo>
                    <a:pt x="210366" y="262102"/>
                    <a:pt x="271042" y="203428"/>
                    <a:pt x="271042" y="131051"/>
                  </a:cubicBezTo>
                  <a:cubicBezTo>
                    <a:pt x="271042" y="58674"/>
                    <a:pt x="210366" y="0"/>
                    <a:pt x="135521" y="0"/>
                  </a:cubicBezTo>
                  <a:close/>
                  <a:moveTo>
                    <a:pt x="226629" y="153398"/>
                  </a:moveTo>
                  <a:cubicBezTo>
                    <a:pt x="226629" y="174183"/>
                    <a:pt x="209225" y="191012"/>
                    <a:pt x="187732" y="191012"/>
                  </a:cubicBezTo>
                  <a:lnTo>
                    <a:pt x="88255" y="191012"/>
                  </a:lnTo>
                  <a:cubicBezTo>
                    <a:pt x="66762" y="191012"/>
                    <a:pt x="49358" y="174183"/>
                    <a:pt x="49358" y="153398"/>
                  </a:cubicBezTo>
                  <a:lnTo>
                    <a:pt x="49358" y="108611"/>
                  </a:lnTo>
                  <a:cubicBezTo>
                    <a:pt x="49358" y="87827"/>
                    <a:pt x="66762" y="70997"/>
                    <a:pt x="88255" y="70997"/>
                  </a:cubicBezTo>
                  <a:lnTo>
                    <a:pt x="187732" y="70997"/>
                  </a:lnTo>
                  <a:cubicBezTo>
                    <a:pt x="209225" y="70997"/>
                    <a:pt x="226629" y="87827"/>
                    <a:pt x="226629" y="108611"/>
                  </a:cubicBezTo>
                  <a:lnTo>
                    <a:pt x="226629" y="1533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" name="Google Shape;52;p17"/>
          <p:cNvGrpSpPr/>
          <p:nvPr/>
        </p:nvGrpSpPr>
        <p:grpSpPr>
          <a:xfrm>
            <a:off x="6478510" y="4459475"/>
            <a:ext cx="271041" cy="262101"/>
            <a:chOff x="6805082" y="4459475"/>
            <a:chExt cx="271041" cy="262101"/>
          </a:xfrm>
        </p:grpSpPr>
        <p:sp>
          <p:nvSpPr>
            <p:cNvPr id="53" name="Google Shape;53;p17"/>
            <p:cNvSpPr/>
            <p:nvPr/>
          </p:nvSpPr>
          <p:spPr>
            <a:xfrm>
              <a:off x="6915306" y="4565420"/>
              <a:ext cx="51830" cy="50213"/>
            </a:xfrm>
            <a:custGeom>
              <a:rect b="b" l="l" r="r" t="t"/>
              <a:pathLst>
                <a:path extrusionOk="0" h="50213" w="51830">
                  <a:moveTo>
                    <a:pt x="25963" y="0"/>
                  </a:moveTo>
                  <a:cubicBezTo>
                    <a:pt x="11698" y="0"/>
                    <a:pt x="0" y="11220"/>
                    <a:pt x="0" y="25107"/>
                  </a:cubicBezTo>
                  <a:cubicBezTo>
                    <a:pt x="0" y="38993"/>
                    <a:pt x="11602" y="50213"/>
                    <a:pt x="25963" y="50213"/>
                  </a:cubicBezTo>
                  <a:cubicBezTo>
                    <a:pt x="40323" y="50213"/>
                    <a:pt x="51831" y="38993"/>
                    <a:pt x="51831" y="25107"/>
                  </a:cubicBezTo>
                  <a:cubicBezTo>
                    <a:pt x="51831" y="11220"/>
                    <a:pt x="40228" y="0"/>
                    <a:pt x="259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17"/>
            <p:cNvSpPr/>
            <p:nvPr/>
          </p:nvSpPr>
          <p:spPr>
            <a:xfrm>
              <a:off x="6873841" y="4525966"/>
              <a:ext cx="133333" cy="128935"/>
            </a:xfrm>
            <a:custGeom>
              <a:rect b="b" l="l" r="r" t="t"/>
              <a:pathLst>
                <a:path extrusionOk="0" h="128935" w="133333">
                  <a:moveTo>
                    <a:pt x="99477" y="0"/>
                  </a:moveTo>
                  <a:lnTo>
                    <a:pt x="33856" y="0"/>
                  </a:lnTo>
                  <a:cubicBezTo>
                    <a:pt x="15121" y="0"/>
                    <a:pt x="0" y="14714"/>
                    <a:pt x="0" y="32740"/>
                  </a:cubicBezTo>
                  <a:lnTo>
                    <a:pt x="0" y="96196"/>
                  </a:lnTo>
                  <a:cubicBezTo>
                    <a:pt x="0" y="114313"/>
                    <a:pt x="15216" y="128936"/>
                    <a:pt x="33856" y="128936"/>
                  </a:cubicBezTo>
                  <a:lnTo>
                    <a:pt x="99477" y="128936"/>
                  </a:lnTo>
                  <a:cubicBezTo>
                    <a:pt x="118212" y="128936"/>
                    <a:pt x="133333" y="114221"/>
                    <a:pt x="133333" y="96196"/>
                  </a:cubicBezTo>
                  <a:lnTo>
                    <a:pt x="133333" y="32740"/>
                  </a:lnTo>
                  <a:cubicBezTo>
                    <a:pt x="133333" y="14623"/>
                    <a:pt x="118117" y="0"/>
                    <a:pt x="99477" y="0"/>
                  </a:cubicBezTo>
                  <a:close/>
                  <a:moveTo>
                    <a:pt x="67428" y="103645"/>
                  </a:moveTo>
                  <a:cubicBezTo>
                    <a:pt x="45078" y="103645"/>
                    <a:pt x="27009" y="86080"/>
                    <a:pt x="27009" y="64560"/>
                  </a:cubicBezTo>
                  <a:cubicBezTo>
                    <a:pt x="27009" y="43040"/>
                    <a:pt x="45174" y="25474"/>
                    <a:pt x="67428" y="25474"/>
                  </a:cubicBezTo>
                  <a:cubicBezTo>
                    <a:pt x="89681" y="25474"/>
                    <a:pt x="107846" y="43040"/>
                    <a:pt x="107846" y="64560"/>
                  </a:cubicBezTo>
                  <a:cubicBezTo>
                    <a:pt x="107846" y="86080"/>
                    <a:pt x="89681" y="103645"/>
                    <a:pt x="67428" y="103645"/>
                  </a:cubicBezTo>
                  <a:close/>
                  <a:moveTo>
                    <a:pt x="110224" y="32096"/>
                  </a:moveTo>
                  <a:cubicBezTo>
                    <a:pt x="104898" y="32096"/>
                    <a:pt x="100618" y="27958"/>
                    <a:pt x="100618" y="22807"/>
                  </a:cubicBezTo>
                  <a:cubicBezTo>
                    <a:pt x="100618" y="17657"/>
                    <a:pt x="104898" y="13519"/>
                    <a:pt x="110224" y="13519"/>
                  </a:cubicBezTo>
                  <a:cubicBezTo>
                    <a:pt x="115549" y="13519"/>
                    <a:pt x="119829" y="17657"/>
                    <a:pt x="119829" y="22807"/>
                  </a:cubicBezTo>
                  <a:cubicBezTo>
                    <a:pt x="119829" y="27958"/>
                    <a:pt x="115549" y="32096"/>
                    <a:pt x="110224" y="320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17"/>
            <p:cNvSpPr/>
            <p:nvPr/>
          </p:nvSpPr>
          <p:spPr>
            <a:xfrm>
              <a:off x="6805082" y="4459475"/>
              <a:ext cx="271041" cy="262101"/>
            </a:xfrm>
            <a:custGeom>
              <a:rect b="b" l="l" r="r" t="t"/>
              <a:pathLst>
                <a:path extrusionOk="0" h="262101" w="271041">
                  <a:moveTo>
                    <a:pt x="135521" y="0"/>
                  </a:moveTo>
                  <a:cubicBezTo>
                    <a:pt x="60675" y="0"/>
                    <a:pt x="0" y="58674"/>
                    <a:pt x="0" y="131051"/>
                  </a:cubicBezTo>
                  <a:cubicBezTo>
                    <a:pt x="0" y="203428"/>
                    <a:pt x="60675" y="262102"/>
                    <a:pt x="135521" y="262102"/>
                  </a:cubicBezTo>
                  <a:cubicBezTo>
                    <a:pt x="210366" y="262102"/>
                    <a:pt x="271042" y="203428"/>
                    <a:pt x="271042" y="131051"/>
                  </a:cubicBezTo>
                  <a:cubicBezTo>
                    <a:pt x="271042" y="58674"/>
                    <a:pt x="210366" y="0"/>
                    <a:pt x="135521" y="0"/>
                  </a:cubicBezTo>
                  <a:close/>
                  <a:moveTo>
                    <a:pt x="217594" y="162687"/>
                  </a:moveTo>
                  <a:cubicBezTo>
                    <a:pt x="217594" y="188989"/>
                    <a:pt x="195435" y="210417"/>
                    <a:pt x="168236" y="210417"/>
                  </a:cubicBezTo>
                  <a:lnTo>
                    <a:pt x="102615" y="210417"/>
                  </a:lnTo>
                  <a:cubicBezTo>
                    <a:pt x="75416" y="210417"/>
                    <a:pt x="53257" y="188989"/>
                    <a:pt x="53257" y="162687"/>
                  </a:cubicBezTo>
                  <a:lnTo>
                    <a:pt x="53257" y="99231"/>
                  </a:lnTo>
                  <a:cubicBezTo>
                    <a:pt x="53257" y="72929"/>
                    <a:pt x="75416" y="51501"/>
                    <a:pt x="102615" y="51501"/>
                  </a:cubicBezTo>
                  <a:lnTo>
                    <a:pt x="168236" y="51501"/>
                  </a:lnTo>
                  <a:cubicBezTo>
                    <a:pt x="195435" y="51501"/>
                    <a:pt x="217594" y="72929"/>
                    <a:pt x="217594" y="99231"/>
                  </a:cubicBezTo>
                  <a:lnTo>
                    <a:pt x="217594" y="1626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6" name="Google Shape;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1960" y="3110653"/>
            <a:ext cx="3183053" cy="57351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7">
            <a:hlinkClick r:id="rId5"/>
          </p:cNvPr>
          <p:cNvSpPr/>
          <p:nvPr/>
        </p:nvSpPr>
        <p:spPr>
          <a:xfrm>
            <a:off x="6478510" y="4459200"/>
            <a:ext cx="275795" cy="262284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7">
            <a:hlinkClick r:id="rId6"/>
          </p:cNvPr>
          <p:cNvSpPr/>
          <p:nvPr/>
        </p:nvSpPr>
        <p:spPr>
          <a:xfrm>
            <a:off x="7185120" y="4459200"/>
            <a:ext cx="275795" cy="262284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7"/>
          <p:cNvSpPr txBox="1"/>
          <p:nvPr/>
        </p:nvSpPr>
        <p:spPr>
          <a:xfrm>
            <a:off x="5974972" y="2391974"/>
            <a:ext cx="471142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8AD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8AD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8AD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E8490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unisenaisc.com.br</a:t>
            </a:r>
            <a:endParaRPr b="0" i="0" sz="14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5974972" y="2491580"/>
            <a:ext cx="3841750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57142"/>
              </a:lnSpc>
              <a:spcBef>
                <a:spcPts val="1000"/>
              </a:spcBef>
              <a:spcAft>
                <a:spcPts val="0"/>
              </a:spcAft>
              <a:buClr>
                <a:srgbClr val="E8490F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7"/>
          <p:cNvSpPr txBox="1"/>
          <p:nvPr>
            <p:ph idx="2" type="body"/>
          </p:nvPr>
        </p:nvSpPr>
        <p:spPr>
          <a:xfrm>
            <a:off x="5974972" y="3367069"/>
            <a:ext cx="3841750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57142"/>
              </a:lnSpc>
              <a:spcBef>
                <a:spcPts val="1000"/>
              </a:spcBef>
              <a:spcAft>
                <a:spcPts val="0"/>
              </a:spcAft>
              <a:buClr>
                <a:srgbClr val="E8490F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abeçalho da Seção">
  <p:cSld name="1_Cabeçalho da Seção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970" y="1"/>
            <a:ext cx="430547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997276" y="5021262"/>
            <a:ext cx="9272587" cy="151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9" name="Google Shape;6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970" y="1"/>
            <a:ext cx="430547" cy="6857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4080" y="596127"/>
            <a:ext cx="1769058" cy="32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>
  <p:cSld name="Somente Título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5" name="Google Shape;75;p13"/>
          <p:cNvSpPr txBox="1"/>
          <p:nvPr>
            <p:ph type="title"/>
          </p:nvPr>
        </p:nvSpPr>
        <p:spPr>
          <a:xfrm>
            <a:off x="896400" y="453600"/>
            <a:ext cx="7772401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76" name="Google Shape;76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970" y="1"/>
            <a:ext cx="430547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" name="Google Shape;13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784080" y="596127"/>
            <a:ext cx="1769058" cy="3290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2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Relationship Id="rId4" Type="http://schemas.openxmlformats.org/officeDocument/2006/relationships/image" Target="../media/image2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Relationship Id="rId4" Type="http://schemas.openxmlformats.org/officeDocument/2006/relationships/hyperlink" Target="https://www.databricks.com/blog/what-is-medallion-architecture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7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2.png"/><Relationship Id="rId4" Type="http://schemas.openxmlformats.org/officeDocument/2006/relationships/image" Target="../media/image2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png"/><Relationship Id="rId4" Type="http://schemas.openxmlformats.org/officeDocument/2006/relationships/image" Target="../media/image2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www.mdpi.com/2073-431X/13/7/183" TargetMode="External"/><Relationship Id="rId4" Type="http://schemas.openxmlformats.org/officeDocument/2006/relationships/hyperlink" Target="https://doi.org/10.3390/computers13070183" TargetMode="External"/><Relationship Id="rId5" Type="http://schemas.openxmlformats.org/officeDocument/2006/relationships/hyperlink" Target="https://www.kimballgroup.com/data-warehouse-business-intelligence-resources/kimball-techniques/dimensional-modeling-techniques/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"/>
          <p:cNvSpPr txBox="1"/>
          <p:nvPr>
            <p:ph idx="1" type="body"/>
          </p:nvPr>
        </p:nvSpPr>
        <p:spPr>
          <a:xfrm>
            <a:off x="977348" y="3515211"/>
            <a:ext cx="8915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</a:pPr>
            <a:r>
              <a:rPr lang="pt-BR" sz="4900"/>
              <a:t>D</a:t>
            </a:r>
            <a:r>
              <a:rPr lang="pt-BR" sz="4900"/>
              <a:t>e</a:t>
            </a:r>
            <a:r>
              <a:rPr lang="pt-BR" sz="4900"/>
              <a:t> Armazéns, Lagos e Dimensões</a:t>
            </a:r>
            <a:endParaRPr sz="4900"/>
          </a:p>
        </p:txBody>
      </p:sp>
      <p:sp>
        <p:nvSpPr>
          <p:cNvPr id="82" name="Google Shape;82;p1"/>
          <p:cNvSpPr txBox="1"/>
          <p:nvPr>
            <p:ph idx="1" type="body"/>
          </p:nvPr>
        </p:nvSpPr>
        <p:spPr>
          <a:xfrm>
            <a:off x="977348" y="5015511"/>
            <a:ext cx="8915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</a:pPr>
            <a:r>
              <a:rPr lang="pt-BR" sz="2200"/>
              <a:t>Eric Zancanaro</a:t>
            </a:r>
            <a:endParaRPr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7fc402ca7_0_333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Revisão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g3d7fc402ca7_0_333"/>
          <p:cNvSpPr txBox="1"/>
          <p:nvPr>
            <p:ph idx="1" type="body"/>
          </p:nvPr>
        </p:nvSpPr>
        <p:spPr>
          <a:xfrm>
            <a:off x="1101600" y="1294700"/>
            <a:ext cx="54864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b="1" lang="pt-BR">
                <a:solidFill>
                  <a:schemeClr val="accent2"/>
                </a:solidFill>
              </a:rPr>
              <a:t>Extract</a:t>
            </a:r>
            <a:endParaRPr b="1">
              <a:solidFill>
                <a:schemeClr val="accent2"/>
              </a:solidFill>
            </a:endParaRPr>
          </a:p>
        </p:txBody>
      </p:sp>
      <p:pic>
        <p:nvPicPr>
          <p:cNvPr id="89" name="Google Shape;89;g3d7fc402ca7_0_333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6874" l="0" r="0" t="6874"/>
          <a:stretch/>
        </p:blipFill>
        <p:spPr>
          <a:xfrm>
            <a:off x="6174659" y="1206037"/>
            <a:ext cx="5840359" cy="503744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d7fc402ca7_0_333"/>
          <p:cNvSpPr txBox="1"/>
          <p:nvPr>
            <p:ph idx="2" type="body"/>
          </p:nvPr>
        </p:nvSpPr>
        <p:spPr>
          <a:xfrm>
            <a:off x="1101600" y="2040525"/>
            <a:ext cx="4680000" cy="30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Tipos de Dados: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○"/>
            </a:pPr>
            <a:r>
              <a:rPr lang="pt-BR">
                <a:solidFill>
                  <a:srgbClr val="004CA3"/>
                </a:solidFill>
              </a:rPr>
              <a:t>Estruturados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○"/>
            </a:pPr>
            <a:r>
              <a:rPr lang="pt-BR">
                <a:solidFill>
                  <a:srgbClr val="004CA3"/>
                </a:solidFill>
              </a:rPr>
              <a:t>Semiestruturados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○"/>
            </a:pPr>
            <a:r>
              <a:rPr lang="pt-BR">
                <a:solidFill>
                  <a:srgbClr val="004CA3"/>
                </a:solidFill>
              </a:rPr>
              <a:t>Não estruturados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Fontes de Dados: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○"/>
            </a:pPr>
            <a:r>
              <a:rPr lang="pt-BR">
                <a:solidFill>
                  <a:srgbClr val="004CA3"/>
                </a:solidFill>
              </a:rPr>
              <a:t>Bancos de Dados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○"/>
            </a:pPr>
            <a:r>
              <a:rPr lang="pt-BR">
                <a:solidFill>
                  <a:srgbClr val="004CA3"/>
                </a:solidFill>
              </a:rPr>
              <a:t>APIs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○"/>
            </a:pPr>
            <a:r>
              <a:rPr lang="pt-BR">
                <a:solidFill>
                  <a:srgbClr val="004CA3"/>
                </a:solidFill>
              </a:rPr>
              <a:t>Web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○"/>
            </a:pPr>
            <a:r>
              <a:rPr lang="pt-BR">
                <a:solidFill>
                  <a:srgbClr val="004CA3"/>
                </a:solidFill>
              </a:rPr>
              <a:t>Arquivos</a:t>
            </a:r>
            <a:endParaRPr>
              <a:solidFill>
                <a:srgbClr val="004CA3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a94e5756f_0_100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Revisão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g3da94e5756f_0_100"/>
          <p:cNvSpPr txBox="1"/>
          <p:nvPr>
            <p:ph idx="2" type="body"/>
          </p:nvPr>
        </p:nvSpPr>
        <p:spPr>
          <a:xfrm>
            <a:off x="1101600" y="2040525"/>
            <a:ext cx="4680000" cy="40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 Limpeza: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○"/>
            </a:pPr>
            <a:r>
              <a:rPr lang="pt-BR">
                <a:solidFill>
                  <a:srgbClr val="004CA3"/>
                </a:solidFill>
              </a:rPr>
              <a:t>Tratar dados faltantes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○"/>
            </a:pPr>
            <a:r>
              <a:rPr lang="pt-BR">
                <a:solidFill>
                  <a:srgbClr val="004CA3"/>
                </a:solidFill>
              </a:rPr>
              <a:t>Reduzir ruído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○"/>
            </a:pPr>
            <a:r>
              <a:rPr lang="pt-BR">
                <a:solidFill>
                  <a:srgbClr val="004CA3"/>
                </a:solidFill>
              </a:rPr>
              <a:t>Eliminar duplicação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Manipulação: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○"/>
            </a:pPr>
            <a:r>
              <a:rPr lang="pt-BR">
                <a:solidFill>
                  <a:srgbClr val="004CA3"/>
                </a:solidFill>
              </a:rPr>
              <a:t>Normalizar 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○"/>
            </a:pPr>
            <a:r>
              <a:rPr lang="pt-BR">
                <a:solidFill>
                  <a:srgbClr val="004CA3"/>
                </a:solidFill>
              </a:rPr>
              <a:t>Discretizar  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○"/>
            </a:pPr>
            <a:r>
              <a:rPr lang="pt-BR">
                <a:solidFill>
                  <a:srgbClr val="004CA3"/>
                </a:solidFill>
              </a:rPr>
              <a:t>Criar atributos (*feature engineering*)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Redução: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○"/>
            </a:pPr>
            <a:r>
              <a:rPr lang="pt-BR">
                <a:solidFill>
                  <a:srgbClr val="004CA3"/>
                </a:solidFill>
              </a:rPr>
              <a:t>Redução de dimensionalidade</a:t>
            </a:r>
            <a:endParaRPr>
              <a:solidFill>
                <a:srgbClr val="004CA3"/>
              </a:solidFill>
            </a:endParaRPr>
          </a:p>
        </p:txBody>
      </p:sp>
      <p:sp>
        <p:nvSpPr>
          <p:cNvPr id="97" name="Google Shape;97;g3da94e5756f_0_100"/>
          <p:cNvSpPr txBox="1"/>
          <p:nvPr>
            <p:ph idx="1" type="body"/>
          </p:nvPr>
        </p:nvSpPr>
        <p:spPr>
          <a:xfrm>
            <a:off x="1101600" y="1294700"/>
            <a:ext cx="3366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b="1" lang="pt-BR">
                <a:solidFill>
                  <a:srgbClr val="004CA3"/>
                </a:solidFill>
              </a:rPr>
              <a:t>E</a:t>
            </a:r>
            <a:r>
              <a:rPr b="1" lang="pt-BR">
                <a:solidFill>
                  <a:schemeClr val="accent2"/>
                </a:solidFill>
              </a:rPr>
              <a:t>Transform</a:t>
            </a:r>
            <a:endParaRPr b="1">
              <a:solidFill>
                <a:schemeClr val="accent2"/>
              </a:solidFill>
            </a:endParaRPr>
          </a:p>
        </p:txBody>
      </p:sp>
      <p:pic>
        <p:nvPicPr>
          <p:cNvPr id="98" name="Google Shape;98;g3da94e5756f_0_100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6874" l="0" r="0" t="6874"/>
          <a:stretch/>
        </p:blipFill>
        <p:spPr>
          <a:xfrm>
            <a:off x="6174659" y="1206037"/>
            <a:ext cx="5840360" cy="5037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a94e5756f_0_109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Revisão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3da94e5756f_0_109"/>
          <p:cNvSpPr txBox="1"/>
          <p:nvPr>
            <p:ph idx="1" type="body"/>
          </p:nvPr>
        </p:nvSpPr>
        <p:spPr>
          <a:xfrm>
            <a:off x="1101600" y="1294700"/>
            <a:ext cx="2889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b="1" lang="pt-BR">
                <a:solidFill>
                  <a:srgbClr val="004CA3"/>
                </a:solidFill>
              </a:rPr>
              <a:t>ET</a:t>
            </a:r>
            <a:r>
              <a:rPr b="1" lang="pt-BR">
                <a:solidFill>
                  <a:schemeClr val="accent2"/>
                </a:solidFill>
              </a:rPr>
              <a:t>Load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105" name="Google Shape;105;g3da94e5756f_0_109"/>
          <p:cNvSpPr txBox="1"/>
          <p:nvPr>
            <p:ph idx="2" type="body"/>
          </p:nvPr>
        </p:nvSpPr>
        <p:spPr>
          <a:xfrm>
            <a:off x="1101600" y="2040525"/>
            <a:ext cx="46800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Onde Carregar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○"/>
            </a:pPr>
            <a:r>
              <a:rPr lang="pt-BR">
                <a:solidFill>
                  <a:srgbClr val="004CA3"/>
                </a:solidFill>
              </a:rPr>
              <a:t>Data Warehouses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○"/>
            </a:pPr>
            <a:r>
              <a:rPr lang="pt-BR">
                <a:solidFill>
                  <a:srgbClr val="004CA3"/>
                </a:solidFill>
              </a:rPr>
              <a:t>Data Lakes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Como Carregar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○"/>
            </a:pPr>
            <a:r>
              <a:rPr lang="pt-BR">
                <a:solidFill>
                  <a:srgbClr val="004CA3"/>
                </a:solidFill>
              </a:rPr>
              <a:t>Fluxo LakeHouse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○"/>
            </a:pPr>
            <a:r>
              <a:rPr lang="pt-BR">
                <a:solidFill>
                  <a:srgbClr val="004CA3"/>
                </a:solidFill>
              </a:rPr>
              <a:t>Modelagem Dimensional</a:t>
            </a:r>
            <a:endParaRPr>
              <a:solidFill>
                <a:srgbClr val="004CA3"/>
              </a:solidFill>
            </a:endParaRPr>
          </a:p>
        </p:txBody>
      </p:sp>
      <p:pic>
        <p:nvPicPr>
          <p:cNvPr id="106" name="Google Shape;106;g3da94e5756f_0_109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6583" r="6574" t="0"/>
          <a:stretch/>
        </p:blipFill>
        <p:spPr>
          <a:xfrm>
            <a:off x="6174659" y="1206037"/>
            <a:ext cx="5840359" cy="5037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81c96dee4_0_0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Histórico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12" name="Google Shape;112;g3d81c96dee4_0_0"/>
          <p:cNvGrpSpPr/>
          <p:nvPr/>
        </p:nvGrpSpPr>
        <p:grpSpPr>
          <a:xfrm>
            <a:off x="888000" y="3621975"/>
            <a:ext cx="10416000" cy="695400"/>
            <a:chOff x="934650" y="4666150"/>
            <a:chExt cx="10416000" cy="695400"/>
          </a:xfrm>
        </p:grpSpPr>
        <p:cxnSp>
          <p:nvCxnSpPr>
            <p:cNvPr id="113" name="Google Shape;113;g3d81c96dee4_0_0"/>
            <p:cNvCxnSpPr/>
            <p:nvPr/>
          </p:nvCxnSpPr>
          <p:spPr>
            <a:xfrm flipH="1" rot="10800000">
              <a:off x="934650" y="5045975"/>
              <a:ext cx="10416000" cy="32100"/>
            </a:xfrm>
            <a:prstGeom prst="straightConnector1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4" name="Google Shape;114;g3d81c96dee4_0_0"/>
            <p:cNvCxnSpPr/>
            <p:nvPr/>
          </p:nvCxnSpPr>
          <p:spPr>
            <a:xfrm>
              <a:off x="2465425" y="4666150"/>
              <a:ext cx="401400" cy="695400"/>
            </a:xfrm>
            <a:prstGeom prst="straightConnector1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" name="Google Shape;115;g3d81c96dee4_0_0"/>
            <p:cNvCxnSpPr/>
            <p:nvPr/>
          </p:nvCxnSpPr>
          <p:spPr>
            <a:xfrm>
              <a:off x="4204288" y="4666150"/>
              <a:ext cx="401400" cy="695400"/>
            </a:xfrm>
            <a:prstGeom prst="straightConnector1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" name="Google Shape;116;g3d81c96dee4_0_0"/>
            <p:cNvCxnSpPr/>
            <p:nvPr/>
          </p:nvCxnSpPr>
          <p:spPr>
            <a:xfrm>
              <a:off x="5941300" y="4666150"/>
              <a:ext cx="401400" cy="695400"/>
            </a:xfrm>
            <a:prstGeom prst="straightConnector1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" name="Google Shape;117;g3d81c96dee4_0_0"/>
            <p:cNvCxnSpPr/>
            <p:nvPr/>
          </p:nvCxnSpPr>
          <p:spPr>
            <a:xfrm>
              <a:off x="7678300" y="4666150"/>
              <a:ext cx="401400" cy="695400"/>
            </a:xfrm>
            <a:prstGeom prst="straightConnector1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" name="Google Shape;118;g3d81c96dee4_0_0"/>
            <p:cNvCxnSpPr/>
            <p:nvPr/>
          </p:nvCxnSpPr>
          <p:spPr>
            <a:xfrm>
              <a:off x="9415300" y="4666150"/>
              <a:ext cx="401400" cy="695400"/>
            </a:xfrm>
            <a:prstGeom prst="straightConnector1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9" name="Google Shape;119;g3d81c96dee4_0_0"/>
          <p:cNvSpPr txBox="1"/>
          <p:nvPr>
            <p:ph idx="2" type="body"/>
          </p:nvPr>
        </p:nvSpPr>
        <p:spPr>
          <a:xfrm>
            <a:off x="1945100" y="3216600"/>
            <a:ext cx="10305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4CA3"/>
                </a:solidFill>
              </a:rPr>
              <a:t>1970s</a:t>
            </a:r>
            <a:endParaRPr b="1">
              <a:solidFill>
                <a:srgbClr val="004CA3"/>
              </a:solidFill>
            </a:endParaRPr>
          </a:p>
        </p:txBody>
      </p:sp>
      <p:sp>
        <p:nvSpPr>
          <p:cNvPr id="120" name="Google Shape;120;g3d81c96dee4_0_0"/>
          <p:cNvSpPr txBox="1"/>
          <p:nvPr>
            <p:ph idx="2" type="body"/>
          </p:nvPr>
        </p:nvSpPr>
        <p:spPr>
          <a:xfrm>
            <a:off x="4069600" y="4317375"/>
            <a:ext cx="10305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4CA3"/>
                </a:solidFill>
              </a:rPr>
              <a:t>1980s</a:t>
            </a:r>
            <a:endParaRPr b="1">
              <a:solidFill>
                <a:srgbClr val="004CA3"/>
              </a:solidFill>
            </a:endParaRPr>
          </a:p>
        </p:txBody>
      </p:sp>
      <p:sp>
        <p:nvSpPr>
          <p:cNvPr id="121" name="Google Shape;121;g3d81c96dee4_0_0"/>
          <p:cNvSpPr txBox="1"/>
          <p:nvPr>
            <p:ph idx="2" type="body"/>
          </p:nvPr>
        </p:nvSpPr>
        <p:spPr>
          <a:xfrm>
            <a:off x="5401275" y="3216600"/>
            <a:ext cx="10305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4CA3"/>
                </a:solidFill>
              </a:rPr>
              <a:t>1990s</a:t>
            </a:r>
            <a:endParaRPr b="1">
              <a:solidFill>
                <a:srgbClr val="004CA3"/>
              </a:solidFill>
            </a:endParaRPr>
          </a:p>
        </p:txBody>
      </p:sp>
      <p:sp>
        <p:nvSpPr>
          <p:cNvPr id="122" name="Google Shape;122;g3d81c96dee4_0_0"/>
          <p:cNvSpPr txBox="1"/>
          <p:nvPr>
            <p:ph idx="2" type="body"/>
          </p:nvPr>
        </p:nvSpPr>
        <p:spPr>
          <a:xfrm>
            <a:off x="7640150" y="4317375"/>
            <a:ext cx="10305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4CA3"/>
                </a:solidFill>
              </a:rPr>
              <a:t>2000s</a:t>
            </a:r>
            <a:endParaRPr b="1">
              <a:solidFill>
                <a:srgbClr val="004CA3"/>
              </a:solidFill>
            </a:endParaRPr>
          </a:p>
        </p:txBody>
      </p:sp>
      <p:sp>
        <p:nvSpPr>
          <p:cNvPr id="123" name="Google Shape;123;g3d81c96dee4_0_0"/>
          <p:cNvSpPr txBox="1"/>
          <p:nvPr>
            <p:ph idx="2" type="body"/>
          </p:nvPr>
        </p:nvSpPr>
        <p:spPr>
          <a:xfrm>
            <a:off x="8911325" y="3216600"/>
            <a:ext cx="10305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4CA3"/>
                </a:solidFill>
              </a:rPr>
              <a:t>2010s</a:t>
            </a:r>
            <a:endParaRPr b="1">
              <a:solidFill>
                <a:srgbClr val="004CA3"/>
              </a:solidFill>
            </a:endParaRPr>
          </a:p>
        </p:txBody>
      </p:sp>
      <p:sp>
        <p:nvSpPr>
          <p:cNvPr id="124" name="Google Shape;124;g3d81c96dee4_0_0"/>
          <p:cNvSpPr txBox="1"/>
          <p:nvPr>
            <p:ph idx="2" type="body"/>
          </p:nvPr>
        </p:nvSpPr>
        <p:spPr>
          <a:xfrm>
            <a:off x="1198800" y="4151175"/>
            <a:ext cx="26565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4CA3"/>
                </a:solidFill>
              </a:rPr>
              <a:t>Dados centralizados em </a:t>
            </a:r>
            <a:r>
              <a:rPr i="1" lang="pt-BR">
                <a:solidFill>
                  <a:srgbClr val="004CA3"/>
                </a:solidFill>
              </a:rPr>
              <a:t>mainframes</a:t>
            </a:r>
            <a:endParaRPr i="1">
              <a:solidFill>
                <a:srgbClr val="004CA3"/>
              </a:solidFill>
            </a:endParaRPr>
          </a:p>
        </p:txBody>
      </p:sp>
      <p:sp>
        <p:nvSpPr>
          <p:cNvPr id="125" name="Google Shape;125;g3d81c96dee4_0_0"/>
          <p:cNvSpPr txBox="1"/>
          <p:nvPr>
            <p:ph idx="2" type="body"/>
          </p:nvPr>
        </p:nvSpPr>
        <p:spPr>
          <a:xfrm>
            <a:off x="2975600" y="2494538"/>
            <a:ext cx="27672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4CA3"/>
                </a:solidFill>
              </a:rPr>
              <a:t>Distribuição em Computadores Pessoais</a:t>
            </a:r>
            <a:endParaRPr>
              <a:solidFill>
                <a:srgbClr val="004CA3"/>
              </a:solidFill>
            </a:endParaRPr>
          </a:p>
        </p:txBody>
      </p:sp>
      <p:sp>
        <p:nvSpPr>
          <p:cNvPr id="126" name="Google Shape;126;g3d81c96dee4_0_0"/>
          <p:cNvSpPr txBox="1"/>
          <p:nvPr>
            <p:ph idx="2" type="body"/>
          </p:nvPr>
        </p:nvSpPr>
        <p:spPr>
          <a:xfrm>
            <a:off x="5314400" y="4317363"/>
            <a:ext cx="27672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4CA3"/>
                </a:solidFill>
              </a:rPr>
              <a:t>Criação dos DataWarehouses</a:t>
            </a:r>
            <a:endParaRPr>
              <a:solidFill>
                <a:srgbClr val="004CA3"/>
              </a:solidFill>
            </a:endParaRPr>
          </a:p>
        </p:txBody>
      </p:sp>
      <p:sp>
        <p:nvSpPr>
          <p:cNvPr id="127" name="Google Shape;127;g3d81c96dee4_0_0"/>
          <p:cNvSpPr txBox="1"/>
          <p:nvPr>
            <p:ph idx="2" type="body"/>
          </p:nvPr>
        </p:nvSpPr>
        <p:spPr>
          <a:xfrm>
            <a:off x="9070075" y="4317363"/>
            <a:ext cx="27672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4CA3"/>
                </a:solidFill>
              </a:rPr>
              <a:t>Big Data e </a:t>
            </a:r>
            <a:endParaRPr>
              <a:solidFill>
                <a:srgbClr val="004CA3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4CA3"/>
                </a:solidFill>
              </a:rPr>
              <a:t>Data Lakes </a:t>
            </a:r>
            <a:endParaRPr>
              <a:solidFill>
                <a:srgbClr val="004CA3"/>
              </a:solidFill>
            </a:endParaRPr>
          </a:p>
        </p:txBody>
      </p:sp>
      <p:sp>
        <p:nvSpPr>
          <p:cNvPr id="128" name="Google Shape;128;g3d81c96dee4_0_0"/>
          <p:cNvSpPr txBox="1"/>
          <p:nvPr>
            <p:ph idx="2" type="body"/>
          </p:nvPr>
        </p:nvSpPr>
        <p:spPr>
          <a:xfrm>
            <a:off x="3922750" y="5452475"/>
            <a:ext cx="22434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4CA3"/>
                </a:solidFill>
              </a:rPr>
              <a:t>79-83- </a:t>
            </a:r>
            <a:r>
              <a:rPr lang="pt-BR">
                <a:solidFill>
                  <a:srgbClr val="004CA3"/>
                </a:solidFill>
              </a:rPr>
              <a:t>SGBDs Relacionais</a:t>
            </a:r>
            <a:endParaRPr>
              <a:solidFill>
                <a:srgbClr val="004CA3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4CA3"/>
                </a:solidFill>
              </a:rPr>
              <a:t>Oracle  </a:t>
            </a:r>
            <a:endParaRPr>
              <a:solidFill>
                <a:srgbClr val="004CA3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4CA3"/>
                </a:solidFill>
              </a:rPr>
              <a:t>IBM DB2</a:t>
            </a:r>
            <a:endParaRPr>
              <a:solidFill>
                <a:srgbClr val="004CA3"/>
              </a:solidFill>
            </a:endParaRPr>
          </a:p>
        </p:txBody>
      </p:sp>
      <p:cxnSp>
        <p:nvCxnSpPr>
          <p:cNvPr id="129" name="Google Shape;129;g3d81c96dee4_0_0"/>
          <p:cNvCxnSpPr/>
          <p:nvPr/>
        </p:nvCxnSpPr>
        <p:spPr>
          <a:xfrm>
            <a:off x="5024650" y="4013975"/>
            <a:ext cx="39600" cy="14385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0" name="Google Shape;130;g3d81c96dee4_0_0"/>
          <p:cNvSpPr txBox="1"/>
          <p:nvPr>
            <p:ph idx="2" type="body"/>
          </p:nvPr>
        </p:nvSpPr>
        <p:spPr>
          <a:xfrm>
            <a:off x="6643100" y="2826938"/>
            <a:ext cx="27672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4CA3"/>
                </a:solidFill>
              </a:rPr>
              <a:t>Cloud Computing</a:t>
            </a:r>
            <a:endParaRPr>
              <a:solidFill>
                <a:srgbClr val="004CA3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a94e5756f_0_119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Warehouse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g3da94e5756f_0_119"/>
          <p:cNvSpPr txBox="1"/>
          <p:nvPr>
            <p:ph idx="1" type="body"/>
          </p:nvPr>
        </p:nvSpPr>
        <p:spPr>
          <a:xfrm>
            <a:off x="7211950" y="1171050"/>
            <a:ext cx="46800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b="1" lang="pt-BR">
                <a:solidFill>
                  <a:srgbClr val="004CA3"/>
                </a:solidFill>
              </a:rPr>
              <a:t>Repositório Central para </a:t>
            </a:r>
            <a:r>
              <a:rPr b="1" lang="pt-BR" u="sng">
                <a:solidFill>
                  <a:srgbClr val="004CA3"/>
                </a:solidFill>
              </a:rPr>
              <a:t>Análise de Dados</a:t>
            </a:r>
            <a:endParaRPr b="1" u="sng">
              <a:solidFill>
                <a:srgbClr val="004CA3"/>
              </a:solidFill>
            </a:endParaRPr>
          </a:p>
        </p:txBody>
      </p:sp>
      <p:sp>
        <p:nvSpPr>
          <p:cNvPr id="137" name="Google Shape;137;g3da94e5756f_0_119"/>
          <p:cNvSpPr txBox="1"/>
          <p:nvPr>
            <p:ph idx="2" type="body"/>
          </p:nvPr>
        </p:nvSpPr>
        <p:spPr>
          <a:xfrm>
            <a:off x="7211950" y="1928250"/>
            <a:ext cx="4680000" cy="44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4CA3"/>
                </a:solidFill>
              </a:rPr>
              <a:t>Características principais: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Orientados por </a:t>
            </a:r>
            <a:r>
              <a:rPr b="1" lang="pt-BR">
                <a:solidFill>
                  <a:srgbClr val="004CA3"/>
                </a:solidFill>
              </a:rPr>
              <a:t>tema</a:t>
            </a:r>
            <a:endParaRPr b="1">
              <a:solidFill>
                <a:srgbClr val="004CA3"/>
              </a:solidFill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b="1" lang="pt-BR">
                <a:solidFill>
                  <a:srgbClr val="004CA3"/>
                </a:solidFill>
              </a:rPr>
              <a:t>Integrados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Variável no </a:t>
            </a:r>
            <a:r>
              <a:rPr b="1" lang="pt-BR">
                <a:solidFill>
                  <a:srgbClr val="004CA3"/>
                </a:solidFill>
              </a:rPr>
              <a:t>tempo</a:t>
            </a:r>
            <a:endParaRPr b="1">
              <a:solidFill>
                <a:srgbClr val="004CA3"/>
              </a:solidFill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Não volátil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i="1" lang="pt-BR">
                <a:solidFill>
                  <a:srgbClr val="004CA3"/>
                </a:solidFill>
              </a:rPr>
              <a:t>Schema on-write</a:t>
            </a:r>
            <a:endParaRPr i="1">
              <a:solidFill>
                <a:srgbClr val="004CA3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4CA3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4CA3"/>
                </a:solidFill>
              </a:rPr>
              <a:t>Pontos Comuns: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Baseados em Web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Relacional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Multidimensional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Tempo Real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Metadados</a:t>
            </a:r>
            <a:endParaRPr>
              <a:solidFill>
                <a:srgbClr val="004CA3"/>
              </a:solidFill>
            </a:endParaRPr>
          </a:p>
        </p:txBody>
      </p:sp>
      <p:pic>
        <p:nvPicPr>
          <p:cNvPr id="138" name="Google Shape;138;g3da94e5756f_0_119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28334" l="64896" r="2293" t="15067"/>
          <a:stretch/>
        </p:blipFill>
        <p:spPr>
          <a:xfrm>
            <a:off x="1101609" y="1220187"/>
            <a:ext cx="5840358" cy="5037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a94e5756f_0_204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Mart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g3da94e5756f_0_204"/>
          <p:cNvSpPr txBox="1"/>
          <p:nvPr>
            <p:ph idx="1" type="body"/>
          </p:nvPr>
        </p:nvSpPr>
        <p:spPr>
          <a:xfrm>
            <a:off x="1101600" y="1294700"/>
            <a:ext cx="2889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285750" rtl="0" algn="l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b="1" lang="pt-BR">
                <a:solidFill>
                  <a:srgbClr val="004CA3"/>
                </a:solidFill>
              </a:rPr>
              <a:t>Concentrado</a:t>
            </a:r>
            <a:endParaRPr b="1">
              <a:solidFill>
                <a:srgbClr val="004CA3"/>
              </a:solidFill>
            </a:endParaRPr>
          </a:p>
        </p:txBody>
      </p:sp>
      <p:sp>
        <p:nvSpPr>
          <p:cNvPr id="145" name="Google Shape;145;g3da94e5756f_0_204"/>
          <p:cNvSpPr txBox="1"/>
          <p:nvPr>
            <p:ph idx="2" type="body"/>
          </p:nvPr>
        </p:nvSpPr>
        <p:spPr>
          <a:xfrm>
            <a:off x="1101600" y="2040525"/>
            <a:ext cx="4680000" cy="40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4CA3"/>
                </a:solidFill>
              </a:rPr>
              <a:t>Subconjunto do Datawarehouse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Focado em uma </a:t>
            </a:r>
            <a:r>
              <a:rPr b="1" lang="pt-BR">
                <a:solidFill>
                  <a:srgbClr val="004CA3"/>
                </a:solidFill>
              </a:rPr>
              <a:t>área</a:t>
            </a:r>
            <a:endParaRPr b="1">
              <a:solidFill>
                <a:srgbClr val="004CA3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•"/>
            </a:pPr>
            <a:r>
              <a:rPr lang="pt-BR">
                <a:solidFill>
                  <a:srgbClr val="004CA3"/>
                </a:solidFill>
              </a:rPr>
              <a:t>DM de marketing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•"/>
            </a:pPr>
            <a:r>
              <a:rPr lang="pt-BR">
                <a:solidFill>
                  <a:srgbClr val="004CA3"/>
                </a:solidFill>
              </a:rPr>
              <a:t>DM de operações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•"/>
            </a:pPr>
            <a:r>
              <a:rPr lang="pt-BR">
                <a:solidFill>
                  <a:srgbClr val="004CA3"/>
                </a:solidFill>
              </a:rPr>
              <a:t>etc.</a:t>
            </a:r>
            <a:endParaRPr>
              <a:solidFill>
                <a:srgbClr val="004CA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4CA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4CA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4CA3"/>
                </a:solidFill>
              </a:rPr>
              <a:t>DMs Dependentes</a:t>
            </a:r>
            <a:endParaRPr>
              <a:solidFill>
                <a:srgbClr val="004CA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4CA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4CA3"/>
                </a:solidFill>
              </a:rPr>
              <a:t>DMs Independentes</a:t>
            </a:r>
            <a:endParaRPr>
              <a:solidFill>
                <a:srgbClr val="004CA3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4CA3"/>
              </a:solidFill>
            </a:endParaRPr>
          </a:p>
        </p:txBody>
      </p:sp>
      <p:pic>
        <p:nvPicPr>
          <p:cNvPr id="146" name="Google Shape;146;g3da94e5756f_0_204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6583" r="6574" t="0"/>
          <a:stretch/>
        </p:blipFill>
        <p:spPr>
          <a:xfrm>
            <a:off x="6174659" y="1206037"/>
            <a:ext cx="5840359" cy="5037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3da94e5756f_0_204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19388" l="29842" r="29846" t="11071"/>
          <a:stretch/>
        </p:blipFill>
        <p:spPr>
          <a:xfrm>
            <a:off x="6174659" y="1206037"/>
            <a:ext cx="5840358" cy="5037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a94e5756f_0_155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Warehouse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3" name="Google Shape;153;g3da94e5756f_0_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2538" y="988688"/>
            <a:ext cx="9566925" cy="488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da94e5756f_0_155"/>
          <p:cNvSpPr txBox="1"/>
          <p:nvPr>
            <p:ph idx="2" type="body"/>
          </p:nvPr>
        </p:nvSpPr>
        <p:spPr>
          <a:xfrm>
            <a:off x="515400" y="5869300"/>
            <a:ext cx="10642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004CA3"/>
                </a:solidFill>
              </a:rPr>
              <a:t>Fonte: Business Intelligence e Análise de Dados para Gestão do Negócio</a:t>
            </a:r>
            <a:endParaRPr sz="1900">
              <a:solidFill>
                <a:srgbClr val="004CA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a94e5756f_0_172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Warehouse: Arquiteturas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0" name="Google Shape;160;g3da94e5756f_0_1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8800" y="1295738"/>
            <a:ext cx="8954400" cy="426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da94e5756f_0_172"/>
          <p:cNvSpPr txBox="1"/>
          <p:nvPr>
            <p:ph idx="2" type="body"/>
          </p:nvPr>
        </p:nvSpPr>
        <p:spPr>
          <a:xfrm>
            <a:off x="515400" y="5869300"/>
            <a:ext cx="10642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004CA3"/>
                </a:solidFill>
              </a:rPr>
              <a:t>Fonte: Business Intelligence e Análise de Dados para Gestão do Negócio</a:t>
            </a:r>
            <a:endParaRPr sz="1900">
              <a:solidFill>
                <a:srgbClr val="004CA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a94e5756f_0_188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Warehouse: Arquiteturas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7" name="Google Shape;167;g3da94e5756f_0_188"/>
          <p:cNvSpPr txBox="1"/>
          <p:nvPr>
            <p:ph idx="2" type="body"/>
          </p:nvPr>
        </p:nvSpPr>
        <p:spPr>
          <a:xfrm>
            <a:off x="515400" y="5869300"/>
            <a:ext cx="10642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004CA3"/>
                </a:solidFill>
              </a:rPr>
              <a:t>Fonte: Business Intelligence e Análise de Dados para Gestão do Negócio</a:t>
            </a:r>
            <a:endParaRPr sz="1900">
              <a:solidFill>
                <a:srgbClr val="004CA3"/>
              </a:solidFill>
            </a:endParaRPr>
          </a:p>
        </p:txBody>
      </p:sp>
      <p:pic>
        <p:nvPicPr>
          <p:cNvPr id="168" name="Google Shape;168;g3da94e5756f_0_1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1340" y="1493575"/>
            <a:ext cx="9209321" cy="387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a94e5756f_0_196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Warehouse: Arquiteturas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4" name="Google Shape;174;g3da94e5756f_0_196"/>
          <p:cNvSpPr txBox="1"/>
          <p:nvPr>
            <p:ph idx="2" type="body"/>
          </p:nvPr>
        </p:nvSpPr>
        <p:spPr>
          <a:xfrm>
            <a:off x="515400" y="5869300"/>
            <a:ext cx="10642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004CA3"/>
                </a:solidFill>
              </a:rPr>
              <a:t>Fonte: Business Intelligence e Análise de Dados para Gestão do Negócio</a:t>
            </a:r>
            <a:endParaRPr sz="1900">
              <a:solidFill>
                <a:srgbClr val="004CA3"/>
              </a:solidFill>
            </a:endParaRPr>
          </a:p>
        </p:txBody>
      </p:sp>
      <p:pic>
        <p:nvPicPr>
          <p:cNvPr id="175" name="Google Shape;175;g3da94e5756f_0_1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4154" y="1604409"/>
            <a:ext cx="8203691" cy="376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a94e5756f_0_212"/>
          <p:cNvSpPr txBox="1"/>
          <p:nvPr>
            <p:ph type="title"/>
          </p:nvPr>
        </p:nvSpPr>
        <p:spPr>
          <a:xfrm>
            <a:off x="896400" y="453600"/>
            <a:ext cx="81249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Warehouse: Desenvolvimento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1" name="Google Shape;181;g3da94e5756f_0_212"/>
          <p:cNvSpPr txBox="1"/>
          <p:nvPr>
            <p:ph idx="1" type="body"/>
          </p:nvPr>
        </p:nvSpPr>
        <p:spPr>
          <a:xfrm>
            <a:off x="1101600" y="1294700"/>
            <a:ext cx="2889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285750" rtl="0" algn="l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b="1" lang="pt-BR">
                <a:solidFill>
                  <a:srgbClr val="004CA3"/>
                </a:solidFill>
              </a:rPr>
              <a:t>Abordagens</a:t>
            </a:r>
            <a:endParaRPr b="1">
              <a:solidFill>
                <a:srgbClr val="004CA3"/>
              </a:solidFill>
            </a:endParaRPr>
          </a:p>
        </p:txBody>
      </p:sp>
      <p:sp>
        <p:nvSpPr>
          <p:cNvPr id="182" name="Google Shape;182;g3da94e5756f_0_212"/>
          <p:cNvSpPr txBox="1"/>
          <p:nvPr>
            <p:ph idx="2" type="body"/>
          </p:nvPr>
        </p:nvSpPr>
        <p:spPr>
          <a:xfrm>
            <a:off x="1101600" y="2040525"/>
            <a:ext cx="4680000" cy="44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4CA3"/>
                </a:solidFill>
              </a:rPr>
              <a:t>Modelo de Inmon: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Diagramas ER</a:t>
            </a:r>
            <a:endParaRPr i="1">
              <a:solidFill>
                <a:srgbClr val="004CA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Enterprise Data Warehouse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i="1" lang="pt-BR">
                <a:solidFill>
                  <a:srgbClr val="004CA3"/>
                </a:solidFill>
              </a:rPr>
              <a:t>Top-down</a:t>
            </a:r>
            <a:endParaRPr>
              <a:solidFill>
                <a:srgbClr val="004CA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4CA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4CA3"/>
                </a:solidFill>
              </a:rPr>
              <a:t>Modelo de Kimball: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Modelagem Dimensional</a:t>
            </a:r>
            <a:endParaRPr i="1">
              <a:solidFill>
                <a:srgbClr val="004CA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Data marts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i="1" lang="pt-BR">
                <a:solidFill>
                  <a:srgbClr val="004CA3"/>
                </a:solidFill>
              </a:rPr>
              <a:t>Bottom-up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Processamento segregado da análise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Acesso simplificado aos dados</a:t>
            </a:r>
            <a:endParaRPr>
              <a:solidFill>
                <a:srgbClr val="004CA3"/>
              </a:solidFill>
            </a:endParaRPr>
          </a:p>
        </p:txBody>
      </p:sp>
      <p:pic>
        <p:nvPicPr>
          <p:cNvPr id="183" name="Google Shape;183;g3da94e5756f_0_212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6583" r="6574" t="0"/>
          <a:stretch/>
        </p:blipFill>
        <p:spPr>
          <a:xfrm>
            <a:off x="6174659" y="1206037"/>
            <a:ext cx="5840359" cy="5037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da94e5756f_0_212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19388" l="29842" r="29846" t="11071"/>
          <a:stretch/>
        </p:blipFill>
        <p:spPr>
          <a:xfrm>
            <a:off x="6174659" y="1206037"/>
            <a:ext cx="5840358" cy="5037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a5c736075_0_0"/>
          <p:cNvSpPr txBox="1"/>
          <p:nvPr>
            <p:ph type="title"/>
          </p:nvPr>
        </p:nvSpPr>
        <p:spPr>
          <a:xfrm>
            <a:off x="896400" y="453600"/>
            <a:ext cx="85848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Warehouse: Desenvolvimento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t/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0" name="Google Shape;190;g39a5c736075_0_0"/>
          <p:cNvSpPr txBox="1"/>
          <p:nvPr>
            <p:ph idx="2" type="body"/>
          </p:nvPr>
        </p:nvSpPr>
        <p:spPr>
          <a:xfrm>
            <a:off x="515400" y="5869300"/>
            <a:ext cx="10642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004CA3"/>
                </a:solidFill>
              </a:rPr>
              <a:t>Fonte: Business Intelligence e Análise de Dados para Gestão do Negócio</a:t>
            </a:r>
            <a:endParaRPr sz="1900">
              <a:solidFill>
                <a:srgbClr val="004CA3"/>
              </a:solidFill>
            </a:endParaRPr>
          </a:p>
        </p:txBody>
      </p:sp>
      <p:pic>
        <p:nvPicPr>
          <p:cNvPr id="191" name="Google Shape;191;g39a5c73607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2025" y="1110975"/>
            <a:ext cx="9307950" cy="463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a5c736075_0_14"/>
          <p:cNvSpPr txBox="1"/>
          <p:nvPr>
            <p:ph type="title"/>
          </p:nvPr>
        </p:nvSpPr>
        <p:spPr>
          <a:xfrm>
            <a:off x="896400" y="453600"/>
            <a:ext cx="83658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Warehouse: Desenvolvimento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t/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7" name="Google Shape;197;g39a5c736075_0_14"/>
          <p:cNvSpPr txBox="1"/>
          <p:nvPr>
            <p:ph idx="2" type="body"/>
          </p:nvPr>
        </p:nvSpPr>
        <p:spPr>
          <a:xfrm>
            <a:off x="515400" y="5869300"/>
            <a:ext cx="10642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004CA3"/>
                </a:solidFill>
              </a:rPr>
              <a:t>Fonte: Business Intelligence e Análise de Dados para Gestão do Negócio</a:t>
            </a:r>
            <a:endParaRPr sz="1900">
              <a:solidFill>
                <a:srgbClr val="004CA3"/>
              </a:solidFill>
            </a:endParaRPr>
          </a:p>
        </p:txBody>
      </p:sp>
      <p:pic>
        <p:nvPicPr>
          <p:cNvPr id="198" name="Google Shape;198;g39a5c736075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4250" y="1077787"/>
            <a:ext cx="8523504" cy="475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a94e5756f_0_164"/>
          <p:cNvSpPr txBox="1"/>
          <p:nvPr>
            <p:ph idx="2" type="body"/>
          </p:nvPr>
        </p:nvSpPr>
        <p:spPr>
          <a:xfrm>
            <a:off x="7181725" y="1510725"/>
            <a:ext cx="4680000" cy="47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4CA3"/>
                </a:solidFill>
              </a:rPr>
              <a:t>DW Tradicionais: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SQL</a:t>
            </a:r>
            <a:endParaRPr b="1">
              <a:solidFill>
                <a:srgbClr val="004CA3"/>
              </a:solidFill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SGBDs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•"/>
            </a:pPr>
            <a:r>
              <a:rPr lang="pt-BR">
                <a:solidFill>
                  <a:srgbClr val="004CA3"/>
                </a:solidFill>
              </a:rPr>
              <a:t>Oracle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•"/>
            </a:pPr>
            <a:r>
              <a:rPr lang="pt-BR">
                <a:solidFill>
                  <a:srgbClr val="004CA3"/>
                </a:solidFill>
              </a:rPr>
              <a:t>MS SQL Server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•"/>
            </a:pPr>
            <a:r>
              <a:rPr lang="pt-BR">
                <a:solidFill>
                  <a:srgbClr val="004CA3"/>
                </a:solidFill>
              </a:rPr>
              <a:t>IBM DB2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•"/>
            </a:pPr>
            <a:r>
              <a:rPr lang="pt-BR">
                <a:solidFill>
                  <a:srgbClr val="004CA3"/>
                </a:solidFill>
              </a:rPr>
              <a:t>PostgreSQL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Cloud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•"/>
            </a:pPr>
            <a:r>
              <a:rPr lang="pt-BR">
                <a:solidFill>
                  <a:srgbClr val="004CA3"/>
                </a:solidFill>
              </a:rPr>
              <a:t>Google BigQuery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•"/>
            </a:pPr>
            <a:r>
              <a:rPr lang="pt-BR">
                <a:solidFill>
                  <a:srgbClr val="004CA3"/>
                </a:solidFill>
              </a:rPr>
              <a:t>Snowflake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•"/>
            </a:pPr>
            <a:r>
              <a:rPr lang="pt-BR">
                <a:solidFill>
                  <a:srgbClr val="004CA3"/>
                </a:solidFill>
              </a:rPr>
              <a:t>AWS Redshift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•"/>
            </a:pPr>
            <a:r>
              <a:rPr lang="pt-BR">
                <a:solidFill>
                  <a:srgbClr val="004CA3"/>
                </a:solidFill>
              </a:rPr>
              <a:t>MS Fabric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•"/>
            </a:pPr>
            <a:r>
              <a:rPr lang="pt-BR">
                <a:solidFill>
                  <a:srgbClr val="004CA3"/>
                </a:solidFill>
              </a:rPr>
              <a:t>Databricks SQL (lakehouse)</a:t>
            </a:r>
            <a:endParaRPr>
              <a:solidFill>
                <a:srgbClr val="004CA3"/>
              </a:solidFill>
            </a:endParaRPr>
          </a:p>
        </p:txBody>
      </p:sp>
      <p:sp>
        <p:nvSpPr>
          <p:cNvPr id="204" name="Google Shape;204;g3da94e5756f_0_164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Warehouse: Ferramentas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05" name="Google Shape;205;g3da94e5756f_0_164" title="dw_tools.pn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3376" l="0" r="0" t="3376"/>
          <a:stretch/>
        </p:blipFill>
        <p:spPr>
          <a:xfrm>
            <a:off x="1101609" y="1220187"/>
            <a:ext cx="5840359" cy="5037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a5c736075_0_20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Lake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1" name="Google Shape;211;g39a5c736075_0_20"/>
          <p:cNvSpPr txBox="1"/>
          <p:nvPr>
            <p:ph idx="2" type="body"/>
          </p:nvPr>
        </p:nvSpPr>
        <p:spPr>
          <a:xfrm>
            <a:off x="7211950" y="1928250"/>
            <a:ext cx="46800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4CA3"/>
                </a:solidFill>
              </a:rPr>
              <a:t>Características principais: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Big Data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Dados </a:t>
            </a:r>
            <a:r>
              <a:rPr b="1" lang="pt-BR">
                <a:solidFill>
                  <a:srgbClr val="004CA3"/>
                </a:solidFill>
              </a:rPr>
              <a:t>brutos</a:t>
            </a:r>
            <a:endParaRPr b="1">
              <a:solidFill>
                <a:srgbClr val="004CA3"/>
              </a:solidFill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Flexibilidade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Extensibilidade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i="1" lang="pt-BR">
                <a:solidFill>
                  <a:srgbClr val="004CA3"/>
                </a:solidFill>
              </a:rPr>
              <a:t>Schema on-read</a:t>
            </a:r>
            <a:endParaRPr>
              <a:solidFill>
                <a:srgbClr val="004CA3"/>
              </a:solidFill>
            </a:endParaRPr>
          </a:p>
        </p:txBody>
      </p:sp>
      <p:sp>
        <p:nvSpPr>
          <p:cNvPr id="212" name="Google Shape;212;g39a5c736075_0_20"/>
          <p:cNvSpPr txBox="1"/>
          <p:nvPr>
            <p:ph idx="1" type="body"/>
          </p:nvPr>
        </p:nvSpPr>
        <p:spPr>
          <a:xfrm>
            <a:off x="7211950" y="1171050"/>
            <a:ext cx="46800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b="1" lang="pt-BR">
                <a:solidFill>
                  <a:srgbClr val="004CA3"/>
                </a:solidFill>
              </a:rPr>
              <a:t>Repositório Distribuído de Dados em Larga Escala</a:t>
            </a:r>
            <a:endParaRPr b="1">
              <a:solidFill>
                <a:srgbClr val="004CA3"/>
              </a:solidFill>
            </a:endParaRPr>
          </a:p>
        </p:txBody>
      </p:sp>
      <p:pic>
        <p:nvPicPr>
          <p:cNvPr id="213" name="Google Shape;213;g39a5c736075_0_20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28546" l="3712" r="66331" t="19777"/>
          <a:stretch/>
        </p:blipFill>
        <p:spPr>
          <a:xfrm>
            <a:off x="1101609" y="1220187"/>
            <a:ext cx="5840358" cy="5037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a5c736075_0_67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Lakes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19" name="Google Shape;219;g39a5c736075_0_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1961" y="1501813"/>
            <a:ext cx="7508076" cy="429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a5c736075_0_27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Lake vs Data Warehouse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5" name="Google Shape;225;g39a5c736075_0_27"/>
          <p:cNvSpPr txBox="1"/>
          <p:nvPr>
            <p:ph idx="2" type="body"/>
          </p:nvPr>
        </p:nvSpPr>
        <p:spPr>
          <a:xfrm>
            <a:off x="515400" y="5869300"/>
            <a:ext cx="106425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004CA3"/>
                </a:solidFill>
              </a:rPr>
              <a:t>Fonte: </a:t>
            </a:r>
            <a:r>
              <a:rPr lang="pt-BR" sz="1900">
                <a:solidFill>
                  <a:srgbClr val="004CA3"/>
                </a:solidFill>
              </a:rPr>
              <a:t>Azzabi, S.; Alfughi, Z.; Ouda, A. Data Lakes: A Survey of Concepts and Architectures. Computers 2024, 13, 183. https://doi.org/10.3390/computers13070183</a:t>
            </a:r>
            <a:endParaRPr sz="1900">
              <a:solidFill>
                <a:srgbClr val="004CA3"/>
              </a:solidFill>
            </a:endParaRPr>
          </a:p>
        </p:txBody>
      </p:sp>
      <p:pic>
        <p:nvPicPr>
          <p:cNvPr id="226" name="Google Shape;226;g39a5c736075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5988" y="1349400"/>
            <a:ext cx="9560014" cy="451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a5c736075_0_81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Lake: Arquiteturas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2" name="Google Shape;232;g39a5c736075_0_81"/>
          <p:cNvSpPr txBox="1"/>
          <p:nvPr>
            <p:ph idx="2" type="body"/>
          </p:nvPr>
        </p:nvSpPr>
        <p:spPr>
          <a:xfrm>
            <a:off x="515400" y="6174100"/>
            <a:ext cx="106425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4CA3"/>
                </a:solidFill>
              </a:rPr>
              <a:t>Fonte: Azzabi, S.; Alfughi, Z.; Ouda, A. Data Lakes: A Survey of Concepts and Architectures. Computers 2024, 13, 183. https://doi.org/10.3390/computers13070183</a:t>
            </a:r>
            <a:endParaRPr sz="1600">
              <a:solidFill>
                <a:srgbClr val="004CA3"/>
              </a:solidFill>
            </a:endParaRPr>
          </a:p>
        </p:txBody>
      </p:sp>
      <p:pic>
        <p:nvPicPr>
          <p:cNvPr id="233" name="Google Shape;233;g39a5c736075_0_81"/>
          <p:cNvPicPr preferRelativeResize="0"/>
          <p:nvPr/>
        </p:nvPicPr>
        <p:blipFill rotWithShape="1">
          <a:blip r:embed="rId3">
            <a:alphaModFix/>
          </a:blip>
          <a:srcRect b="2910" l="1869" r="3245" t="3509"/>
          <a:stretch/>
        </p:blipFill>
        <p:spPr>
          <a:xfrm>
            <a:off x="2904100" y="1183700"/>
            <a:ext cx="8668700" cy="4851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9a5c736075_0_81"/>
          <p:cNvSpPr txBox="1"/>
          <p:nvPr>
            <p:ph idx="2" type="body"/>
          </p:nvPr>
        </p:nvSpPr>
        <p:spPr>
          <a:xfrm>
            <a:off x="896396" y="2664600"/>
            <a:ext cx="2321700" cy="15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164193"/>
                </a:solidFill>
              </a:rPr>
              <a:t>Mono-Zone</a:t>
            </a:r>
            <a:endParaRPr b="1" i="0" sz="1600" u="none" cap="none" strike="noStrike">
              <a:solidFill>
                <a:srgbClr val="164193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9a5c736075_0_89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Lake: Arquiteturas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0" name="Google Shape;240;g39a5c736075_0_89"/>
          <p:cNvSpPr txBox="1"/>
          <p:nvPr>
            <p:ph idx="2" type="body"/>
          </p:nvPr>
        </p:nvSpPr>
        <p:spPr>
          <a:xfrm>
            <a:off x="515400" y="6174100"/>
            <a:ext cx="106425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4CA3"/>
                </a:solidFill>
              </a:rPr>
              <a:t>Fonte: Azzabi, S.; Alfughi, Z.; Ouda, A. Data Lakes: A Survey of Concepts and Architectures. Computers 2024, 13, 183. https://doi.org/10.3390/computers13070183</a:t>
            </a:r>
            <a:endParaRPr sz="1600">
              <a:solidFill>
                <a:srgbClr val="004CA3"/>
              </a:solidFill>
            </a:endParaRPr>
          </a:p>
        </p:txBody>
      </p:sp>
      <p:sp>
        <p:nvSpPr>
          <p:cNvPr id="241" name="Google Shape;241;g39a5c736075_0_89"/>
          <p:cNvSpPr txBox="1"/>
          <p:nvPr>
            <p:ph idx="2" type="body"/>
          </p:nvPr>
        </p:nvSpPr>
        <p:spPr>
          <a:xfrm>
            <a:off x="896396" y="2664600"/>
            <a:ext cx="2321700" cy="15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164193"/>
                </a:solidFill>
              </a:rPr>
              <a:t>Kappa</a:t>
            </a:r>
            <a:endParaRPr b="1" i="0" sz="1600" u="none" cap="none" strike="noStrike">
              <a:solidFill>
                <a:srgbClr val="164193"/>
              </a:solidFill>
            </a:endParaRPr>
          </a:p>
        </p:txBody>
      </p:sp>
      <p:pic>
        <p:nvPicPr>
          <p:cNvPr id="242" name="Google Shape;242;g39a5c736075_0_89"/>
          <p:cNvPicPr preferRelativeResize="0"/>
          <p:nvPr/>
        </p:nvPicPr>
        <p:blipFill rotWithShape="1">
          <a:blip r:embed="rId3">
            <a:alphaModFix/>
          </a:blip>
          <a:srcRect b="1650" l="869" r="1475" t="1843"/>
          <a:stretch/>
        </p:blipFill>
        <p:spPr>
          <a:xfrm>
            <a:off x="2869300" y="1155038"/>
            <a:ext cx="8669900" cy="490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9a5c736075_0_97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Lake: Arquiteturas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8" name="Google Shape;248;g39a5c736075_0_97"/>
          <p:cNvSpPr txBox="1"/>
          <p:nvPr>
            <p:ph idx="2" type="body"/>
          </p:nvPr>
        </p:nvSpPr>
        <p:spPr>
          <a:xfrm>
            <a:off x="515400" y="6174100"/>
            <a:ext cx="106425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4CA3"/>
                </a:solidFill>
              </a:rPr>
              <a:t>Fonte: Azzabi, S.; Alfughi, Z.; Ouda, A. Data Lakes: A Survey of Concepts and Architectures. Computers 2024, 13, 183. https://doi.org/10.3390/computers13070183</a:t>
            </a:r>
            <a:endParaRPr sz="1600">
              <a:solidFill>
                <a:srgbClr val="004CA3"/>
              </a:solidFill>
            </a:endParaRPr>
          </a:p>
        </p:txBody>
      </p:sp>
      <p:sp>
        <p:nvSpPr>
          <p:cNvPr id="249" name="Google Shape;249;g39a5c736075_0_97"/>
          <p:cNvSpPr txBox="1"/>
          <p:nvPr>
            <p:ph idx="2" type="body"/>
          </p:nvPr>
        </p:nvSpPr>
        <p:spPr>
          <a:xfrm>
            <a:off x="896396" y="2664600"/>
            <a:ext cx="2321700" cy="15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164193"/>
                </a:solidFill>
              </a:rPr>
              <a:t>Zonas</a:t>
            </a:r>
            <a:endParaRPr b="1" i="0" sz="1600" u="none" cap="none" strike="noStrike">
              <a:solidFill>
                <a:srgbClr val="164193"/>
              </a:solidFill>
            </a:endParaRPr>
          </a:p>
        </p:txBody>
      </p:sp>
      <p:pic>
        <p:nvPicPr>
          <p:cNvPr id="250" name="Google Shape;250;g39a5c736075_0_97"/>
          <p:cNvPicPr preferRelativeResize="0"/>
          <p:nvPr/>
        </p:nvPicPr>
        <p:blipFill rotWithShape="1">
          <a:blip r:embed="rId3">
            <a:alphaModFix/>
          </a:blip>
          <a:srcRect b="2044" l="879" r="1436" t="3786"/>
          <a:stretch/>
        </p:blipFill>
        <p:spPr>
          <a:xfrm>
            <a:off x="2843350" y="1252125"/>
            <a:ext cx="8680725" cy="47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a5c736075_0_105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Lake: Arquiteturas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6" name="Google Shape;256;g39a5c736075_0_105"/>
          <p:cNvSpPr txBox="1"/>
          <p:nvPr>
            <p:ph idx="2" type="body"/>
          </p:nvPr>
        </p:nvSpPr>
        <p:spPr>
          <a:xfrm>
            <a:off x="515400" y="6174100"/>
            <a:ext cx="106425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4CA3"/>
                </a:solidFill>
              </a:rPr>
              <a:t>Fonte: Azzabi, S.; Alfughi, Z.; Ouda, A. Data Lakes: A Survey of Concepts and Architectures. Computers 2024, 13, 183. https://doi.org/10.3390/computers13070183</a:t>
            </a:r>
            <a:endParaRPr sz="1600">
              <a:solidFill>
                <a:srgbClr val="004CA3"/>
              </a:solidFill>
            </a:endParaRPr>
          </a:p>
        </p:txBody>
      </p:sp>
      <p:sp>
        <p:nvSpPr>
          <p:cNvPr id="257" name="Google Shape;257;g39a5c736075_0_105"/>
          <p:cNvSpPr txBox="1"/>
          <p:nvPr>
            <p:ph idx="2" type="body"/>
          </p:nvPr>
        </p:nvSpPr>
        <p:spPr>
          <a:xfrm>
            <a:off x="896396" y="2664600"/>
            <a:ext cx="2321700" cy="15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164193"/>
                </a:solidFill>
              </a:rPr>
              <a:t>Funcional</a:t>
            </a:r>
            <a:endParaRPr b="1" i="0" sz="1600" u="none" cap="none" strike="noStrike">
              <a:solidFill>
                <a:srgbClr val="164193"/>
              </a:solidFill>
            </a:endParaRPr>
          </a:p>
        </p:txBody>
      </p:sp>
      <p:pic>
        <p:nvPicPr>
          <p:cNvPr id="258" name="Google Shape;258;g39a5c736075_0_105"/>
          <p:cNvPicPr preferRelativeResize="0"/>
          <p:nvPr/>
        </p:nvPicPr>
        <p:blipFill rotWithShape="1">
          <a:blip r:embed="rId3">
            <a:alphaModFix/>
          </a:blip>
          <a:srcRect b="1339" l="797" r="865" t="1649"/>
          <a:stretch/>
        </p:blipFill>
        <p:spPr>
          <a:xfrm>
            <a:off x="2984425" y="1311550"/>
            <a:ext cx="8537626" cy="45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9a5c736075_0_126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Lakehouse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4" name="Google Shape;264;g39a5c736075_0_126"/>
          <p:cNvSpPr txBox="1"/>
          <p:nvPr>
            <p:ph idx="2" type="body"/>
          </p:nvPr>
        </p:nvSpPr>
        <p:spPr>
          <a:xfrm>
            <a:off x="515400" y="6174100"/>
            <a:ext cx="106425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4CA3"/>
                </a:solidFill>
              </a:rPr>
              <a:t>Fonte: Azzabi, S.; Alfughi, Z.; Ouda, A. Data Lakes: A Survey of Concepts and Architectures. Computers 2024, 13, 183. https://doi.org/10.3390/computers13070183</a:t>
            </a:r>
            <a:endParaRPr sz="1600">
              <a:solidFill>
                <a:srgbClr val="004CA3"/>
              </a:solidFill>
            </a:endParaRPr>
          </a:p>
        </p:txBody>
      </p:sp>
      <p:pic>
        <p:nvPicPr>
          <p:cNvPr id="265" name="Google Shape;265;g39a5c736075_0_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812" y="1044587"/>
            <a:ext cx="10142376" cy="497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9a5c736075_0_114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Lakehouse: Qualidade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1" name="Google Shape;271;g39a5c736075_0_114"/>
          <p:cNvSpPr txBox="1"/>
          <p:nvPr>
            <p:ph idx="2" type="body"/>
          </p:nvPr>
        </p:nvSpPr>
        <p:spPr>
          <a:xfrm>
            <a:off x="896396" y="2664600"/>
            <a:ext cx="2321700" cy="15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164193"/>
                </a:solidFill>
              </a:rPr>
              <a:t>Medalhão</a:t>
            </a:r>
            <a:endParaRPr b="1" i="0" sz="1600" u="none" cap="none" strike="noStrike">
              <a:solidFill>
                <a:srgbClr val="164193"/>
              </a:solidFill>
            </a:endParaRPr>
          </a:p>
        </p:txBody>
      </p:sp>
      <p:pic>
        <p:nvPicPr>
          <p:cNvPr id="272" name="Google Shape;272;g39a5c736075_0_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4321" y="1344263"/>
            <a:ext cx="8669102" cy="416946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g39a5c736075_0_114"/>
          <p:cNvSpPr txBox="1"/>
          <p:nvPr>
            <p:ph idx="2" type="body"/>
          </p:nvPr>
        </p:nvSpPr>
        <p:spPr>
          <a:xfrm>
            <a:off x="515400" y="6174100"/>
            <a:ext cx="106425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4CA3"/>
                </a:solidFill>
              </a:rPr>
              <a:t>Fonte: </a:t>
            </a:r>
            <a:r>
              <a:rPr lang="pt-BR" sz="1600" u="sng">
                <a:solidFill>
                  <a:schemeClr val="hlink"/>
                </a:solidFill>
                <a:hlinkClick r:id="rId4"/>
              </a:rPr>
              <a:t>Databricks: What is medallion architecture</a:t>
            </a:r>
            <a:endParaRPr sz="1600">
              <a:solidFill>
                <a:srgbClr val="004CA3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9a5c736075_0_36"/>
          <p:cNvSpPr txBox="1"/>
          <p:nvPr>
            <p:ph idx="2" type="body"/>
          </p:nvPr>
        </p:nvSpPr>
        <p:spPr>
          <a:xfrm>
            <a:off x="7181725" y="1510725"/>
            <a:ext cx="4680000" cy="40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4CA3"/>
                </a:solidFill>
              </a:rPr>
              <a:t>Opções: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i="1" lang="pt-BR">
                <a:solidFill>
                  <a:srgbClr val="004CA3"/>
                </a:solidFill>
              </a:rPr>
              <a:t>On-premise</a:t>
            </a:r>
            <a:r>
              <a:rPr lang="pt-BR">
                <a:solidFill>
                  <a:srgbClr val="004CA3"/>
                </a:solidFill>
              </a:rPr>
              <a:t>: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•"/>
            </a:pPr>
            <a:r>
              <a:rPr lang="pt-BR">
                <a:solidFill>
                  <a:srgbClr val="004CA3"/>
                </a:solidFill>
              </a:rPr>
              <a:t>Apache Hudi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•"/>
            </a:pPr>
            <a:r>
              <a:rPr lang="pt-BR">
                <a:solidFill>
                  <a:srgbClr val="004CA3"/>
                </a:solidFill>
              </a:rPr>
              <a:t>Cloudera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•"/>
            </a:pPr>
            <a:r>
              <a:rPr lang="pt-BR">
                <a:solidFill>
                  <a:srgbClr val="004CA3"/>
                </a:solidFill>
              </a:rPr>
              <a:t>MinIO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Cloud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•"/>
            </a:pPr>
            <a:r>
              <a:rPr lang="pt-BR">
                <a:solidFill>
                  <a:srgbClr val="004CA3"/>
                </a:solidFill>
              </a:rPr>
              <a:t>Amazon S3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•"/>
            </a:pPr>
            <a:r>
              <a:rPr lang="pt-BR">
                <a:solidFill>
                  <a:srgbClr val="004CA3"/>
                </a:solidFill>
              </a:rPr>
              <a:t>Snowflake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•"/>
            </a:pPr>
            <a:r>
              <a:rPr lang="pt-BR">
                <a:solidFill>
                  <a:srgbClr val="004CA3"/>
                </a:solidFill>
              </a:rPr>
              <a:t>Azure Datalake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•"/>
            </a:pPr>
            <a:r>
              <a:rPr lang="pt-BR">
                <a:solidFill>
                  <a:srgbClr val="004CA3"/>
                </a:solidFill>
              </a:rPr>
              <a:t>Google BigLake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•"/>
            </a:pPr>
            <a:r>
              <a:rPr lang="pt-BR">
                <a:solidFill>
                  <a:srgbClr val="004CA3"/>
                </a:solidFill>
              </a:rPr>
              <a:t>Databricks SQL (lakehouse)</a:t>
            </a:r>
            <a:endParaRPr>
              <a:solidFill>
                <a:srgbClr val="004CA3"/>
              </a:solidFill>
            </a:endParaRPr>
          </a:p>
        </p:txBody>
      </p:sp>
      <p:sp>
        <p:nvSpPr>
          <p:cNvPr id="279" name="Google Shape;279;g39a5c736075_0_36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Lakes: Ferramentas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80" name="Google Shape;280;g39a5c736075_0_36" title="dl_tools2.pn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3376" l="0" r="0" t="3376"/>
          <a:stretch/>
        </p:blipFill>
        <p:spPr>
          <a:xfrm>
            <a:off x="1101609" y="1220187"/>
            <a:ext cx="5840359" cy="5037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9a5c736075_0_44"/>
          <p:cNvSpPr txBox="1"/>
          <p:nvPr>
            <p:ph idx="2" type="body"/>
          </p:nvPr>
        </p:nvSpPr>
        <p:spPr>
          <a:xfrm>
            <a:off x="7181725" y="1510725"/>
            <a:ext cx="4680000" cy="44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4CA3"/>
                </a:solidFill>
              </a:rPr>
              <a:t>Interação com o DataLake</a:t>
            </a:r>
            <a:r>
              <a:rPr lang="pt-BR">
                <a:solidFill>
                  <a:srgbClr val="004CA3"/>
                </a:solidFill>
              </a:rPr>
              <a:t>: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i="1" lang="pt-BR">
                <a:solidFill>
                  <a:srgbClr val="004CA3"/>
                </a:solidFill>
              </a:rPr>
              <a:t>Ferramentas</a:t>
            </a:r>
            <a:r>
              <a:rPr lang="pt-BR">
                <a:solidFill>
                  <a:srgbClr val="004CA3"/>
                </a:solidFill>
              </a:rPr>
              <a:t>: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•"/>
            </a:pPr>
            <a:r>
              <a:rPr b="1" lang="pt-BR">
                <a:solidFill>
                  <a:srgbClr val="004CA3"/>
                </a:solidFill>
              </a:rPr>
              <a:t>Apache Spark</a:t>
            </a:r>
            <a:endParaRPr b="1"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•"/>
            </a:pPr>
            <a:r>
              <a:rPr lang="pt-BR">
                <a:solidFill>
                  <a:srgbClr val="004CA3"/>
                </a:solidFill>
              </a:rPr>
              <a:t>Hadoop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•"/>
            </a:pPr>
            <a:r>
              <a:rPr lang="pt-BR">
                <a:solidFill>
                  <a:srgbClr val="004CA3"/>
                </a:solidFill>
              </a:rPr>
              <a:t>MinIO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Tipos de Arquivos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•"/>
            </a:pPr>
            <a:r>
              <a:rPr b="1" lang="pt-BR">
                <a:solidFill>
                  <a:srgbClr val="004CA3"/>
                </a:solidFill>
              </a:rPr>
              <a:t>Apache Parquet</a:t>
            </a:r>
            <a:endParaRPr b="1"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•"/>
            </a:pPr>
            <a:r>
              <a:rPr lang="pt-BR">
                <a:solidFill>
                  <a:srgbClr val="004CA3"/>
                </a:solidFill>
              </a:rPr>
              <a:t>Apache Arvo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•"/>
            </a:pPr>
            <a:r>
              <a:rPr lang="pt-BR">
                <a:solidFill>
                  <a:srgbClr val="004CA3"/>
                </a:solidFill>
              </a:rPr>
              <a:t>Apache ORC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Formatos de Tabela: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•"/>
            </a:pPr>
            <a:r>
              <a:rPr lang="pt-BR">
                <a:solidFill>
                  <a:srgbClr val="004CA3"/>
                </a:solidFill>
              </a:rPr>
              <a:t>Delta Lake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•"/>
            </a:pPr>
            <a:r>
              <a:rPr b="1" lang="pt-BR">
                <a:solidFill>
                  <a:srgbClr val="004CA3"/>
                </a:solidFill>
              </a:rPr>
              <a:t>Apache Iceberg</a:t>
            </a:r>
            <a:endParaRPr b="1">
              <a:solidFill>
                <a:srgbClr val="004CA3"/>
              </a:solidFill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•"/>
            </a:pPr>
            <a:r>
              <a:rPr lang="pt-BR">
                <a:solidFill>
                  <a:srgbClr val="004CA3"/>
                </a:solidFill>
              </a:rPr>
              <a:t>Apache Hudi</a:t>
            </a:r>
            <a:endParaRPr>
              <a:solidFill>
                <a:srgbClr val="004CA3"/>
              </a:solidFill>
            </a:endParaRPr>
          </a:p>
        </p:txBody>
      </p:sp>
      <p:sp>
        <p:nvSpPr>
          <p:cNvPr id="286" name="Google Shape;286;g39a5c736075_0_44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Lakes: Ecossistema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87" name="Google Shape;287;g39a5c736075_0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7875" y="2102963"/>
            <a:ext cx="5003925" cy="323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f1bd60aa5_0_25"/>
          <p:cNvSpPr txBox="1"/>
          <p:nvPr>
            <p:ph idx="1" type="body"/>
          </p:nvPr>
        </p:nvSpPr>
        <p:spPr>
          <a:xfrm>
            <a:off x="1083773" y="3986948"/>
            <a:ext cx="8915400" cy="15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4500"/>
              <a:t>Modelagem</a:t>
            </a:r>
            <a:endParaRPr sz="4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4500"/>
              <a:t>Dimensional</a:t>
            </a:r>
            <a:endParaRPr sz="4500"/>
          </a:p>
        </p:txBody>
      </p:sp>
      <p:pic>
        <p:nvPicPr>
          <p:cNvPr id="294" name="Google Shape;294;g3df1bd60aa5_0_2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822" l="0" r="0" t="-1480"/>
          <a:stretch/>
        </p:blipFill>
        <p:spPr>
          <a:xfrm>
            <a:off x="6889002" y="2327777"/>
            <a:ext cx="4834075" cy="4169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f1bd60aa5_0_18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Modelagem Dimensional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0" name="Google Shape;300;g3df1bd60aa5_0_18"/>
          <p:cNvSpPr txBox="1"/>
          <p:nvPr>
            <p:ph idx="1" type="body"/>
          </p:nvPr>
        </p:nvSpPr>
        <p:spPr>
          <a:xfrm>
            <a:off x="1101600" y="1294700"/>
            <a:ext cx="332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285750" rtl="0" algn="l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b="1" lang="pt-BR">
                <a:solidFill>
                  <a:srgbClr val="004CA3"/>
                </a:solidFill>
              </a:rPr>
              <a:t>Banco Relacional</a:t>
            </a:r>
            <a:endParaRPr b="1">
              <a:solidFill>
                <a:srgbClr val="004CA3"/>
              </a:solidFill>
            </a:endParaRPr>
          </a:p>
        </p:txBody>
      </p:sp>
      <p:sp>
        <p:nvSpPr>
          <p:cNvPr id="301" name="Google Shape;301;g3df1bd60aa5_0_18"/>
          <p:cNvSpPr txBox="1"/>
          <p:nvPr>
            <p:ph idx="2" type="body"/>
          </p:nvPr>
        </p:nvSpPr>
        <p:spPr>
          <a:xfrm>
            <a:off x="1101600" y="2040525"/>
            <a:ext cx="4680000" cy="44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4CA3"/>
                </a:solidFill>
              </a:rPr>
              <a:t>Tabelas </a:t>
            </a:r>
            <a:r>
              <a:rPr b="1" lang="pt-BR">
                <a:solidFill>
                  <a:srgbClr val="004CA3"/>
                </a:solidFill>
              </a:rPr>
              <a:t>Fato</a:t>
            </a:r>
            <a:endParaRPr b="1">
              <a:solidFill>
                <a:srgbClr val="004CA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O que aconteceu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Ex: vendas em um </a:t>
            </a:r>
            <a:r>
              <a:rPr i="1" lang="pt-BR">
                <a:solidFill>
                  <a:srgbClr val="004CA3"/>
                </a:solidFill>
              </a:rPr>
              <a:t>e-commerce</a:t>
            </a:r>
            <a:br>
              <a:rPr lang="pt-BR">
                <a:solidFill>
                  <a:srgbClr val="004CA3"/>
                </a:solidFill>
              </a:rPr>
            </a:br>
            <a:endParaRPr>
              <a:solidFill>
                <a:srgbClr val="004CA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4CA3"/>
                </a:solidFill>
              </a:rPr>
              <a:t>Tabelas </a:t>
            </a:r>
            <a:r>
              <a:rPr b="1" lang="pt-BR">
                <a:solidFill>
                  <a:srgbClr val="004CA3"/>
                </a:solidFill>
              </a:rPr>
              <a:t>Dimensão</a:t>
            </a:r>
            <a:endParaRPr b="1">
              <a:solidFill>
                <a:srgbClr val="004CA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Como, quando, quem, onde, porque, etc.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Ex: datas, produtos, clientes</a:t>
            </a:r>
            <a:endParaRPr>
              <a:solidFill>
                <a:srgbClr val="004CA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4CA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4CA3"/>
                </a:solidFill>
              </a:rPr>
              <a:t>Alto volume de acesso</a:t>
            </a:r>
            <a:endParaRPr>
              <a:solidFill>
                <a:srgbClr val="004CA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4CA3"/>
              </a:solidFill>
            </a:endParaRPr>
          </a:p>
        </p:txBody>
      </p:sp>
      <p:pic>
        <p:nvPicPr>
          <p:cNvPr id="302" name="Google Shape;302;g3df1bd60aa5_0_18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671" l="0" r="0" t="671"/>
          <a:stretch/>
        </p:blipFill>
        <p:spPr>
          <a:xfrm>
            <a:off x="6174659" y="1206037"/>
            <a:ext cx="5840358" cy="5037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9a5c736075_0_165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MD: Star-Schema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8" name="Google Shape;308;g39a5c736075_0_165"/>
          <p:cNvSpPr txBox="1"/>
          <p:nvPr>
            <p:ph idx="1" type="body"/>
          </p:nvPr>
        </p:nvSpPr>
        <p:spPr>
          <a:xfrm>
            <a:off x="1101600" y="1294700"/>
            <a:ext cx="38442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285750" rtl="0" algn="l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b="1" lang="pt-BR">
                <a:solidFill>
                  <a:srgbClr val="004CA3"/>
                </a:solidFill>
              </a:rPr>
              <a:t>Schema Dimensional</a:t>
            </a:r>
            <a:endParaRPr b="1">
              <a:solidFill>
                <a:srgbClr val="004CA3"/>
              </a:solidFill>
            </a:endParaRPr>
          </a:p>
        </p:txBody>
      </p:sp>
      <p:pic>
        <p:nvPicPr>
          <p:cNvPr id="309" name="Google Shape;309;g39a5c736075_0_1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4650" y="1602275"/>
            <a:ext cx="5840375" cy="4244956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39a5c736075_0_165"/>
          <p:cNvSpPr txBox="1"/>
          <p:nvPr>
            <p:ph idx="2" type="body"/>
          </p:nvPr>
        </p:nvSpPr>
        <p:spPr>
          <a:xfrm>
            <a:off x="1101600" y="2040525"/>
            <a:ext cx="6145500" cy="37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4CA3"/>
                </a:solidFill>
              </a:rPr>
              <a:t>Tabela de Fatos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Chave primária composta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Chaves estrangeiras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b="1" lang="pt-BR">
                <a:solidFill>
                  <a:srgbClr val="004CA3"/>
                </a:solidFill>
              </a:rPr>
              <a:t>Métricas</a:t>
            </a:r>
            <a:endParaRPr b="1">
              <a:solidFill>
                <a:srgbClr val="004CA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4CA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4CA3"/>
                </a:solidFill>
              </a:rPr>
              <a:t>Tabelas de Dimensões: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Chave primária única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b="1" lang="pt-BR">
                <a:solidFill>
                  <a:srgbClr val="004CA3"/>
                </a:solidFill>
              </a:rPr>
              <a:t>Desnormalizadas</a:t>
            </a:r>
            <a:endParaRPr b="1">
              <a:solidFill>
                <a:srgbClr val="004CA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4CA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4CA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4CA3"/>
                </a:solidFill>
              </a:rPr>
              <a:t>Relacionamento </a:t>
            </a:r>
            <a:r>
              <a:rPr b="1" lang="pt-BR">
                <a:solidFill>
                  <a:srgbClr val="004CA3"/>
                </a:solidFill>
              </a:rPr>
              <a:t>Dimensão→Fato: 1→n</a:t>
            </a:r>
            <a:endParaRPr>
              <a:solidFill>
                <a:srgbClr val="004CA3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9a5c736075_0_174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MD: Snowflake-Schema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6" name="Google Shape;316;g39a5c736075_0_174"/>
          <p:cNvSpPr txBox="1"/>
          <p:nvPr>
            <p:ph idx="1" type="body"/>
          </p:nvPr>
        </p:nvSpPr>
        <p:spPr>
          <a:xfrm>
            <a:off x="1101600" y="1294700"/>
            <a:ext cx="40182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285750" rtl="0" algn="l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b="1" lang="pt-BR">
                <a:solidFill>
                  <a:srgbClr val="004CA3"/>
                </a:solidFill>
              </a:rPr>
              <a:t>Schema Dimensional</a:t>
            </a:r>
            <a:endParaRPr b="1">
              <a:solidFill>
                <a:srgbClr val="004CA3"/>
              </a:solidFill>
            </a:endParaRPr>
          </a:p>
        </p:txBody>
      </p:sp>
      <p:sp>
        <p:nvSpPr>
          <p:cNvPr id="317" name="Google Shape;317;g39a5c736075_0_174"/>
          <p:cNvSpPr txBox="1"/>
          <p:nvPr>
            <p:ph idx="2" type="body"/>
          </p:nvPr>
        </p:nvSpPr>
        <p:spPr>
          <a:xfrm>
            <a:off x="1101600" y="2040525"/>
            <a:ext cx="4680000" cy="47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004CA3"/>
                </a:solidFill>
              </a:rPr>
              <a:t>Tabela de Fatos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Chave primária composta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Chaves estrangeiras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b="1" lang="pt-BR">
                <a:solidFill>
                  <a:srgbClr val="004CA3"/>
                </a:solidFill>
              </a:rPr>
              <a:t>Métricas</a:t>
            </a:r>
            <a:endParaRPr>
              <a:solidFill>
                <a:srgbClr val="004CA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4CA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004CA3"/>
                </a:solidFill>
              </a:rPr>
              <a:t>Tabelas de Dimensões: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lang="pt-BR">
                <a:solidFill>
                  <a:srgbClr val="004CA3"/>
                </a:solidFill>
              </a:rPr>
              <a:t>Chave primária única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Char char="●"/>
            </a:pPr>
            <a:r>
              <a:rPr b="1" lang="pt-BR">
                <a:solidFill>
                  <a:srgbClr val="004CA3"/>
                </a:solidFill>
              </a:rPr>
              <a:t>Normalizadas (3NF)</a:t>
            </a:r>
            <a:endParaRPr b="1">
              <a:solidFill>
                <a:srgbClr val="004CA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4CA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4CA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4CA3"/>
                </a:solidFill>
              </a:rPr>
              <a:t>Relacionamento </a:t>
            </a:r>
            <a:r>
              <a:rPr b="1" lang="pt-BR">
                <a:solidFill>
                  <a:srgbClr val="004CA3"/>
                </a:solidFill>
              </a:rPr>
              <a:t>Dimensão→Fato: 1→n</a:t>
            </a:r>
            <a:endParaRPr b="1">
              <a:solidFill>
                <a:srgbClr val="004CA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rgbClr val="004CA3"/>
                </a:solidFill>
              </a:rPr>
              <a:t>Dimensão→Dimensão: 1→n</a:t>
            </a:r>
            <a:endParaRPr b="1">
              <a:solidFill>
                <a:srgbClr val="004CA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4CA3"/>
              </a:solidFill>
            </a:endParaRPr>
          </a:p>
        </p:txBody>
      </p:sp>
      <p:pic>
        <p:nvPicPr>
          <p:cNvPr id="318" name="Google Shape;318;g39a5c736075_0_1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1600" y="2040525"/>
            <a:ext cx="6233425" cy="354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9a5c736075_0_183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MD: Passo a Passo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4" name="Google Shape;324;g39a5c736075_0_183"/>
          <p:cNvSpPr txBox="1"/>
          <p:nvPr>
            <p:ph idx="2" type="body"/>
          </p:nvPr>
        </p:nvSpPr>
        <p:spPr>
          <a:xfrm>
            <a:off x="1101600" y="2040525"/>
            <a:ext cx="4680000" cy="37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AutoNum type="arabicPeriod"/>
            </a:pPr>
            <a:r>
              <a:rPr lang="pt-BR">
                <a:solidFill>
                  <a:srgbClr val="004CA3"/>
                </a:solidFill>
              </a:rPr>
              <a:t>Selecionar o processo do negócio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AutoNum type="arabicPeriod"/>
            </a:pPr>
            <a:r>
              <a:rPr lang="pt-BR">
                <a:solidFill>
                  <a:srgbClr val="004CA3"/>
                </a:solidFill>
              </a:rPr>
              <a:t>Declarar a granularidade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AutoNum type="alphaLcPeriod"/>
            </a:pPr>
            <a:r>
              <a:rPr lang="pt-BR">
                <a:solidFill>
                  <a:srgbClr val="004CA3"/>
                </a:solidFill>
              </a:rPr>
              <a:t>Granularidade Atômica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AutoNum type="alphaLcPeriod"/>
            </a:pPr>
            <a:r>
              <a:rPr lang="pt-BR">
                <a:solidFill>
                  <a:srgbClr val="004CA3"/>
                </a:solidFill>
              </a:rPr>
              <a:t>Grãos Diferentes = Tabelas Diferentes</a:t>
            </a:r>
            <a:endParaRPr>
              <a:solidFill>
                <a:srgbClr val="004CA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AutoNum type="arabicPeriod"/>
            </a:pPr>
            <a:r>
              <a:rPr lang="pt-BR">
                <a:solidFill>
                  <a:srgbClr val="004CA3"/>
                </a:solidFill>
              </a:rPr>
              <a:t>Identificar as dimensões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AutoNum type="alphaLcPeriod"/>
            </a:pPr>
            <a:r>
              <a:rPr lang="pt-BR">
                <a:solidFill>
                  <a:srgbClr val="004CA3"/>
                </a:solidFill>
              </a:rPr>
              <a:t>Descrição do processo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AutoNum type="alphaLcPeriod"/>
            </a:pPr>
            <a:r>
              <a:rPr lang="pt-BR">
                <a:solidFill>
                  <a:srgbClr val="004CA3"/>
                </a:solidFill>
              </a:rPr>
              <a:t>Dimensões </a:t>
            </a:r>
            <a:r>
              <a:rPr i="1" lang="pt-BR">
                <a:solidFill>
                  <a:srgbClr val="004CA3"/>
                </a:solidFill>
              </a:rPr>
              <a:t>conformadas</a:t>
            </a:r>
            <a:endParaRPr i="1">
              <a:solidFill>
                <a:srgbClr val="004CA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AutoNum type="arabicPeriod"/>
            </a:pPr>
            <a:r>
              <a:rPr lang="pt-BR">
                <a:solidFill>
                  <a:srgbClr val="004CA3"/>
                </a:solidFill>
              </a:rPr>
              <a:t>Identificar os fatos</a:t>
            </a:r>
            <a:endParaRPr>
              <a:solidFill>
                <a:srgbClr val="004CA3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rgbClr val="004CA3"/>
              </a:buClr>
              <a:buSzPts val="2400"/>
              <a:buAutoNum type="alphaLcPeriod"/>
            </a:pPr>
            <a:r>
              <a:rPr lang="pt-BR">
                <a:solidFill>
                  <a:srgbClr val="004CA3"/>
                </a:solidFill>
              </a:rPr>
              <a:t>Eventos mensuráveis</a:t>
            </a:r>
            <a:endParaRPr>
              <a:solidFill>
                <a:srgbClr val="004CA3"/>
              </a:solidFill>
            </a:endParaRPr>
          </a:p>
        </p:txBody>
      </p:sp>
      <p:sp>
        <p:nvSpPr>
          <p:cNvPr id="325" name="Google Shape;325;g39a5c736075_0_183"/>
          <p:cNvSpPr txBox="1"/>
          <p:nvPr>
            <p:ph idx="1" type="body"/>
          </p:nvPr>
        </p:nvSpPr>
        <p:spPr>
          <a:xfrm>
            <a:off x="1101600" y="1294700"/>
            <a:ext cx="2889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285750" rtl="0" algn="l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b="1" lang="pt-BR">
                <a:solidFill>
                  <a:srgbClr val="004CA3"/>
                </a:solidFill>
              </a:rPr>
              <a:t>EXPLICAR</a:t>
            </a:r>
            <a:endParaRPr b="1">
              <a:solidFill>
                <a:srgbClr val="004CA3"/>
              </a:solidFill>
            </a:endParaRPr>
          </a:p>
        </p:txBody>
      </p:sp>
      <p:pic>
        <p:nvPicPr>
          <p:cNvPr id="326" name="Google Shape;326;g39a5c736075_0_183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-95068" l="-1100" r="1100" t="-95039"/>
          <a:stretch/>
        </p:blipFill>
        <p:spPr>
          <a:xfrm>
            <a:off x="6174659" y="1206037"/>
            <a:ext cx="5840358" cy="5037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db0c4ec037_0_22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MD: Exemplo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32" name="Google Shape;332;g3db0c4ec037_0_22" title="Loja_Normaliza.png"/>
          <p:cNvPicPr preferRelativeResize="0"/>
          <p:nvPr/>
        </p:nvPicPr>
        <p:blipFill rotWithShape="1">
          <a:blip r:embed="rId3">
            <a:alphaModFix/>
          </a:blip>
          <a:srcRect b="6326" l="3784" r="4372" t="11518"/>
          <a:stretch/>
        </p:blipFill>
        <p:spPr>
          <a:xfrm>
            <a:off x="1249450" y="1044598"/>
            <a:ext cx="10140576" cy="5506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g3db0c4ec037_0_22"/>
          <p:cNvSpPr txBox="1"/>
          <p:nvPr>
            <p:ph idx="1" type="body"/>
          </p:nvPr>
        </p:nvSpPr>
        <p:spPr>
          <a:xfrm>
            <a:off x="6821500" y="3738150"/>
            <a:ext cx="43500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285750" rtl="0" algn="l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b="1" lang="pt-BR">
                <a:solidFill>
                  <a:schemeClr val="accent2"/>
                </a:solidFill>
              </a:rPr>
              <a:t>1- </a:t>
            </a:r>
            <a:r>
              <a:rPr b="1" lang="pt-BR">
                <a:solidFill>
                  <a:srgbClr val="004CA3"/>
                </a:solidFill>
              </a:rPr>
              <a:t>Processo: </a:t>
            </a:r>
            <a:endParaRPr b="1">
              <a:solidFill>
                <a:srgbClr val="004CA3"/>
              </a:solidFill>
            </a:endParaRPr>
          </a:p>
          <a:p>
            <a:pPr indent="-133350" lvl="0" marL="742950" rtl="0" algn="l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lang="pt-BR">
                <a:solidFill>
                  <a:srgbClr val="004CA3"/>
                </a:solidFill>
              </a:rPr>
              <a:t>Vendas</a:t>
            </a:r>
            <a:endParaRPr>
              <a:solidFill>
                <a:srgbClr val="004CA3"/>
              </a:solidFill>
            </a:endParaRPr>
          </a:p>
        </p:txBody>
      </p:sp>
      <p:sp>
        <p:nvSpPr>
          <p:cNvPr id="334" name="Google Shape;334;g3db0c4ec037_0_22"/>
          <p:cNvSpPr txBox="1"/>
          <p:nvPr>
            <p:ph idx="1" type="body"/>
          </p:nvPr>
        </p:nvSpPr>
        <p:spPr>
          <a:xfrm>
            <a:off x="6821500" y="4814050"/>
            <a:ext cx="43500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285750" rtl="0" algn="l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b="1" lang="pt-BR">
                <a:solidFill>
                  <a:schemeClr val="accent2"/>
                </a:solidFill>
              </a:rPr>
              <a:t>2</a:t>
            </a:r>
            <a:r>
              <a:rPr b="1" lang="pt-BR">
                <a:solidFill>
                  <a:schemeClr val="accent2"/>
                </a:solidFill>
              </a:rPr>
              <a:t>- </a:t>
            </a:r>
            <a:r>
              <a:rPr b="1" lang="pt-BR">
                <a:solidFill>
                  <a:srgbClr val="004CA3"/>
                </a:solidFill>
              </a:rPr>
              <a:t>Granularidade: </a:t>
            </a:r>
            <a:endParaRPr b="1">
              <a:solidFill>
                <a:srgbClr val="004CA3"/>
              </a:solidFill>
            </a:endParaRPr>
          </a:p>
          <a:p>
            <a:pPr indent="-133350" lvl="0" marL="742950" rtl="0" algn="l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lang="pt-BR">
                <a:solidFill>
                  <a:srgbClr val="004CA3"/>
                </a:solidFill>
              </a:rPr>
              <a:t>Por item?</a:t>
            </a:r>
            <a:endParaRPr>
              <a:solidFill>
                <a:srgbClr val="004CA3"/>
              </a:solidFill>
            </a:endParaRPr>
          </a:p>
          <a:p>
            <a:pPr indent="-133350" lvl="0" marL="742950" rtl="0" algn="l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lang="pt-BR">
                <a:solidFill>
                  <a:srgbClr val="004CA3"/>
                </a:solidFill>
              </a:rPr>
              <a:t>Por venda agregada?</a:t>
            </a:r>
            <a:endParaRPr>
              <a:solidFill>
                <a:srgbClr val="004CA3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db0c4ec037_0_29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MD: Exemplo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40" name="Google Shape;340;g3db0c4ec037_0_29" title="Loja_Normaliza.png"/>
          <p:cNvPicPr preferRelativeResize="0"/>
          <p:nvPr/>
        </p:nvPicPr>
        <p:blipFill rotWithShape="1">
          <a:blip r:embed="rId3">
            <a:alphaModFix/>
          </a:blip>
          <a:srcRect b="6326" l="3784" r="4372" t="11518"/>
          <a:stretch/>
        </p:blipFill>
        <p:spPr>
          <a:xfrm>
            <a:off x="1249450" y="1044598"/>
            <a:ext cx="10140576" cy="55063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g3db0c4ec037_0_29"/>
          <p:cNvSpPr txBox="1"/>
          <p:nvPr>
            <p:ph idx="1" type="body"/>
          </p:nvPr>
        </p:nvSpPr>
        <p:spPr>
          <a:xfrm>
            <a:off x="6821500" y="3738150"/>
            <a:ext cx="43500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285750" rtl="0" algn="l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b="1" lang="pt-BR">
                <a:solidFill>
                  <a:schemeClr val="accent2"/>
                </a:solidFill>
              </a:rPr>
              <a:t>3</a:t>
            </a:r>
            <a:r>
              <a:rPr b="1" lang="pt-BR">
                <a:solidFill>
                  <a:schemeClr val="accent2"/>
                </a:solidFill>
              </a:rPr>
              <a:t>- </a:t>
            </a:r>
            <a:r>
              <a:rPr b="1" lang="pt-BR">
                <a:solidFill>
                  <a:srgbClr val="004CA3"/>
                </a:solidFill>
              </a:rPr>
              <a:t>Dimensões</a:t>
            </a:r>
            <a:r>
              <a:rPr b="1" lang="pt-BR">
                <a:solidFill>
                  <a:srgbClr val="004CA3"/>
                </a:solidFill>
              </a:rPr>
              <a:t>: </a:t>
            </a:r>
            <a:endParaRPr b="1">
              <a:solidFill>
                <a:srgbClr val="004CA3"/>
              </a:solidFill>
            </a:endParaRPr>
          </a:p>
          <a:p>
            <a:pPr indent="-133350" lvl="0" marL="742950" rtl="0" algn="l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lang="pt-BR">
                <a:solidFill>
                  <a:srgbClr val="004CA3"/>
                </a:solidFill>
              </a:rPr>
              <a:t>Produto</a:t>
            </a:r>
            <a:endParaRPr>
              <a:solidFill>
                <a:srgbClr val="004CA3"/>
              </a:solidFill>
            </a:endParaRPr>
          </a:p>
          <a:p>
            <a:pPr indent="-133350" lvl="0" marL="742950" rtl="0" algn="l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lang="pt-BR">
                <a:solidFill>
                  <a:srgbClr val="004CA3"/>
                </a:solidFill>
              </a:rPr>
              <a:t>Data</a:t>
            </a:r>
            <a:endParaRPr>
              <a:solidFill>
                <a:srgbClr val="004CA3"/>
              </a:solidFill>
            </a:endParaRPr>
          </a:p>
          <a:p>
            <a:pPr indent="-133350" lvl="0" marL="742950" rtl="0" algn="l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lang="pt-BR">
                <a:solidFill>
                  <a:srgbClr val="004CA3"/>
                </a:solidFill>
              </a:rPr>
              <a:t>Cliente</a:t>
            </a:r>
            <a:endParaRPr>
              <a:solidFill>
                <a:srgbClr val="004CA3"/>
              </a:solidFill>
            </a:endParaRPr>
          </a:p>
          <a:p>
            <a:pPr indent="-133350" lvl="0" marL="742950" rtl="0" algn="l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lang="pt-BR">
                <a:solidFill>
                  <a:srgbClr val="004CA3"/>
                </a:solidFill>
              </a:rPr>
              <a:t>Funcionário</a:t>
            </a:r>
            <a:endParaRPr>
              <a:solidFill>
                <a:srgbClr val="004CA3"/>
              </a:solidFill>
            </a:endParaRPr>
          </a:p>
          <a:p>
            <a:pPr indent="-133350" lvl="0" marL="742950" rtl="0" algn="l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lang="pt-BR">
                <a:solidFill>
                  <a:srgbClr val="004CA3"/>
                </a:solidFill>
              </a:rPr>
              <a:t>Loja</a:t>
            </a:r>
            <a:endParaRPr>
              <a:solidFill>
                <a:srgbClr val="004CA3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db0c4ec037_0_42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MD: Exemplo - Dimensões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47" name="Google Shape;347;g3db0c4ec037_0_42" title="Loja_Normaliza.png"/>
          <p:cNvPicPr preferRelativeResize="0"/>
          <p:nvPr/>
        </p:nvPicPr>
        <p:blipFill rotWithShape="1">
          <a:blip r:embed="rId3">
            <a:alphaModFix/>
          </a:blip>
          <a:srcRect b="12250" l="54838" r="4792" t="59076"/>
          <a:stretch/>
        </p:blipFill>
        <p:spPr>
          <a:xfrm rot="10800000">
            <a:off x="602625" y="2511900"/>
            <a:ext cx="4457400" cy="1921800"/>
          </a:xfrm>
          <a:prstGeom prst="corner">
            <a:avLst>
              <a:gd fmla="val 62421" name="adj1"/>
              <a:gd fmla="val 103770" name="adj2"/>
            </a:avLst>
          </a:prstGeom>
          <a:noFill/>
          <a:ln>
            <a:noFill/>
          </a:ln>
        </p:spPr>
      </p:pic>
      <p:pic>
        <p:nvPicPr>
          <p:cNvPr id="348" name="Google Shape;348;g3db0c4ec037_0_42" title="Untitled.png"/>
          <p:cNvPicPr preferRelativeResize="0"/>
          <p:nvPr/>
        </p:nvPicPr>
        <p:blipFill rotWithShape="1">
          <a:blip r:embed="rId4">
            <a:alphaModFix/>
          </a:blip>
          <a:srcRect b="48619" l="71716" r="5874" t="41305"/>
          <a:stretch/>
        </p:blipFill>
        <p:spPr>
          <a:xfrm>
            <a:off x="7419125" y="1789678"/>
            <a:ext cx="2731551" cy="1230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g3db0c4ec037_0_42" title="Untitled.png"/>
          <p:cNvPicPr preferRelativeResize="0"/>
          <p:nvPr/>
        </p:nvPicPr>
        <p:blipFill rotWithShape="1">
          <a:blip r:embed="rId4">
            <a:alphaModFix/>
          </a:blip>
          <a:srcRect b="31126" l="71716" r="5874" t="41307"/>
          <a:stretch/>
        </p:blipFill>
        <p:spPr>
          <a:xfrm>
            <a:off x="7419125" y="1789703"/>
            <a:ext cx="2731551" cy="336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g3db0c4ec037_0_42" title="Untitled.png"/>
          <p:cNvPicPr preferRelativeResize="0"/>
          <p:nvPr/>
        </p:nvPicPr>
        <p:blipFill rotWithShape="1">
          <a:blip r:embed="rId4">
            <a:alphaModFix/>
          </a:blip>
          <a:srcRect b="22570" l="71716" r="5874" t="41307"/>
          <a:stretch/>
        </p:blipFill>
        <p:spPr>
          <a:xfrm>
            <a:off x="7419125" y="1789715"/>
            <a:ext cx="2731551" cy="4411049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g3db0c4ec037_0_42"/>
          <p:cNvSpPr txBox="1"/>
          <p:nvPr>
            <p:ph idx="1" type="body"/>
          </p:nvPr>
        </p:nvSpPr>
        <p:spPr>
          <a:xfrm>
            <a:off x="5158325" y="2253575"/>
            <a:ext cx="22608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285750" rtl="0" algn="l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b="1" lang="pt-BR">
                <a:solidFill>
                  <a:schemeClr val="accent2"/>
                </a:solidFill>
              </a:rPr>
              <a:t>1- </a:t>
            </a:r>
            <a:r>
              <a:rPr b="1" lang="pt-BR">
                <a:solidFill>
                  <a:srgbClr val="004CA3"/>
                </a:solidFill>
              </a:rPr>
              <a:t>Surrogate Key</a:t>
            </a:r>
            <a:endParaRPr>
              <a:solidFill>
                <a:srgbClr val="004CA3"/>
              </a:solidFill>
            </a:endParaRPr>
          </a:p>
        </p:txBody>
      </p:sp>
      <p:sp>
        <p:nvSpPr>
          <p:cNvPr id="352" name="Google Shape;352;g3db0c4ec037_0_42"/>
          <p:cNvSpPr txBox="1"/>
          <p:nvPr>
            <p:ph idx="1" type="body"/>
          </p:nvPr>
        </p:nvSpPr>
        <p:spPr>
          <a:xfrm>
            <a:off x="3830825" y="4389925"/>
            <a:ext cx="3588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285750" rtl="0" algn="l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b="1" lang="pt-BR">
                <a:solidFill>
                  <a:schemeClr val="accent2"/>
                </a:solidFill>
              </a:rPr>
              <a:t>2</a:t>
            </a:r>
            <a:r>
              <a:rPr b="1" lang="pt-BR">
                <a:solidFill>
                  <a:schemeClr val="accent2"/>
                </a:solidFill>
              </a:rPr>
              <a:t>- </a:t>
            </a:r>
            <a:r>
              <a:rPr b="1" lang="pt-BR">
                <a:solidFill>
                  <a:srgbClr val="004CA3"/>
                </a:solidFill>
              </a:rPr>
              <a:t>Desnormalização</a:t>
            </a:r>
            <a:endParaRPr>
              <a:solidFill>
                <a:srgbClr val="004CA3"/>
              </a:solidFill>
            </a:endParaRPr>
          </a:p>
        </p:txBody>
      </p:sp>
      <p:sp>
        <p:nvSpPr>
          <p:cNvPr id="353" name="Google Shape;353;g3db0c4ec037_0_42"/>
          <p:cNvSpPr/>
          <p:nvPr/>
        </p:nvSpPr>
        <p:spPr>
          <a:xfrm>
            <a:off x="7122050" y="3979225"/>
            <a:ext cx="419700" cy="1176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db0c4ec037_0_42"/>
          <p:cNvSpPr/>
          <p:nvPr/>
        </p:nvSpPr>
        <p:spPr>
          <a:xfrm>
            <a:off x="7308950" y="2316113"/>
            <a:ext cx="232800" cy="6321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db0c4ec037_0_42"/>
          <p:cNvSpPr txBox="1"/>
          <p:nvPr>
            <p:ph idx="1" type="body"/>
          </p:nvPr>
        </p:nvSpPr>
        <p:spPr>
          <a:xfrm>
            <a:off x="5102225" y="5455875"/>
            <a:ext cx="2373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285750" rtl="0" algn="l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b="1" lang="pt-BR">
                <a:solidFill>
                  <a:schemeClr val="accent2"/>
                </a:solidFill>
              </a:rPr>
              <a:t>3</a:t>
            </a:r>
            <a:r>
              <a:rPr b="1" lang="pt-BR">
                <a:solidFill>
                  <a:schemeClr val="accent2"/>
                </a:solidFill>
              </a:rPr>
              <a:t>- </a:t>
            </a:r>
            <a:r>
              <a:rPr b="1" lang="pt-BR">
                <a:solidFill>
                  <a:srgbClr val="004CA3"/>
                </a:solidFill>
              </a:rPr>
              <a:t>Extensão</a:t>
            </a:r>
            <a:endParaRPr>
              <a:solidFill>
                <a:srgbClr val="004CA3"/>
              </a:solidFill>
            </a:endParaRPr>
          </a:p>
        </p:txBody>
      </p:sp>
      <p:sp>
        <p:nvSpPr>
          <p:cNvPr id="356" name="Google Shape;356;g3db0c4ec037_0_42"/>
          <p:cNvSpPr/>
          <p:nvPr/>
        </p:nvSpPr>
        <p:spPr>
          <a:xfrm>
            <a:off x="7253375" y="5197425"/>
            <a:ext cx="288300" cy="941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db0c4ec037_0_61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MD: Exemplo - Dimensões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62" name="Google Shape;362;g3db0c4ec037_0_61" title="Loja_Normaliza.png"/>
          <p:cNvPicPr preferRelativeResize="0"/>
          <p:nvPr/>
        </p:nvPicPr>
        <p:blipFill rotWithShape="1">
          <a:blip r:embed="rId3">
            <a:alphaModFix/>
          </a:blip>
          <a:srcRect b="33394" l="80590" r="2733" t="39126"/>
          <a:stretch/>
        </p:blipFill>
        <p:spPr>
          <a:xfrm rot="10800000">
            <a:off x="440325" y="1971625"/>
            <a:ext cx="1841400" cy="184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g3db0c4ec037_0_61" title="Untitled.png"/>
          <p:cNvPicPr preferRelativeResize="0"/>
          <p:nvPr/>
        </p:nvPicPr>
        <p:blipFill rotWithShape="1">
          <a:blip r:embed="rId4">
            <a:alphaModFix/>
          </a:blip>
          <a:srcRect b="67861" l="18876" r="66017" t="11120"/>
          <a:stretch/>
        </p:blipFill>
        <p:spPr>
          <a:xfrm>
            <a:off x="2611400" y="1609121"/>
            <a:ext cx="1841399" cy="256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g3db0c4ec037_0_61" title="Loja_Normaliza.png"/>
          <p:cNvPicPr preferRelativeResize="0"/>
          <p:nvPr/>
        </p:nvPicPr>
        <p:blipFill rotWithShape="1">
          <a:blip r:embed="rId3">
            <a:alphaModFix/>
          </a:blip>
          <a:srcRect b="65739" l="77762" r="4604" t="7825"/>
          <a:stretch/>
        </p:blipFill>
        <p:spPr>
          <a:xfrm rot="10800000">
            <a:off x="5639588" y="2006425"/>
            <a:ext cx="1947300" cy="177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g3db0c4ec037_0_61" title="Untitled.png"/>
          <p:cNvPicPr preferRelativeResize="0"/>
          <p:nvPr/>
        </p:nvPicPr>
        <p:blipFill rotWithShape="1">
          <a:blip r:embed="rId4">
            <a:alphaModFix/>
          </a:blip>
          <a:srcRect b="35225" l="5275" r="75144" t="43755"/>
          <a:stretch/>
        </p:blipFill>
        <p:spPr>
          <a:xfrm>
            <a:off x="8051400" y="1609125"/>
            <a:ext cx="2386726" cy="25667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6" name="Google Shape;366;g3db0c4ec037_0_61"/>
          <p:cNvCxnSpPr>
            <a:stCxn id="362" idx="1"/>
            <a:endCxn id="363" idx="1"/>
          </p:cNvCxnSpPr>
          <p:nvPr/>
        </p:nvCxnSpPr>
        <p:spPr>
          <a:xfrm>
            <a:off x="2281725" y="2892475"/>
            <a:ext cx="3297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7" name="Google Shape;367;g3db0c4ec037_0_61"/>
          <p:cNvCxnSpPr>
            <a:stCxn id="364" idx="1"/>
            <a:endCxn id="365" idx="1"/>
          </p:cNvCxnSpPr>
          <p:nvPr/>
        </p:nvCxnSpPr>
        <p:spPr>
          <a:xfrm>
            <a:off x="7586888" y="2892475"/>
            <a:ext cx="464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68" name="Google Shape;368;g3db0c4ec037_0_61" title="Loja_Normaliza.png"/>
          <p:cNvPicPr preferRelativeResize="0"/>
          <p:nvPr/>
        </p:nvPicPr>
        <p:blipFill rotWithShape="1">
          <a:blip r:embed="rId3">
            <a:alphaModFix/>
          </a:blip>
          <a:srcRect b="43045" l="56110" r="28096" t="29508"/>
          <a:stretch/>
        </p:blipFill>
        <p:spPr>
          <a:xfrm rot="10800000">
            <a:off x="3792788" y="4587450"/>
            <a:ext cx="1744200" cy="183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g3db0c4ec037_0_61" title="Untitled.png"/>
          <p:cNvPicPr preferRelativeResize="0"/>
          <p:nvPr/>
        </p:nvPicPr>
        <p:blipFill rotWithShape="1">
          <a:blip r:embed="rId4">
            <a:alphaModFix/>
          </a:blip>
          <a:srcRect b="7056" l="15058" r="65361" t="74911"/>
          <a:stretch/>
        </p:blipFill>
        <p:spPr>
          <a:xfrm>
            <a:off x="6012487" y="4406112"/>
            <a:ext cx="2386726" cy="2201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0" name="Google Shape;370;g3db0c4ec037_0_61"/>
          <p:cNvCxnSpPr>
            <a:stCxn id="368" idx="1"/>
            <a:endCxn id="369" idx="1"/>
          </p:cNvCxnSpPr>
          <p:nvPr/>
        </p:nvCxnSpPr>
        <p:spPr>
          <a:xfrm>
            <a:off x="5536988" y="5507100"/>
            <a:ext cx="4755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db0c4ec037_0_87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MD: Exemplo - Dimensões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76" name="Google Shape;376;g3db0c4ec037_0_87" title="Untitled.png"/>
          <p:cNvPicPr preferRelativeResize="0"/>
          <p:nvPr/>
        </p:nvPicPr>
        <p:blipFill rotWithShape="1">
          <a:blip r:embed="rId3">
            <a:alphaModFix/>
          </a:blip>
          <a:srcRect b="61414" l="62079" r="14381" t="4901"/>
          <a:stretch/>
        </p:blipFill>
        <p:spPr>
          <a:xfrm>
            <a:off x="4406250" y="1792300"/>
            <a:ext cx="2869376" cy="4113201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g3db0c4ec037_0_87"/>
          <p:cNvSpPr txBox="1"/>
          <p:nvPr>
            <p:ph idx="1" type="body"/>
          </p:nvPr>
        </p:nvSpPr>
        <p:spPr>
          <a:xfrm>
            <a:off x="2071050" y="2017550"/>
            <a:ext cx="23352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285750" rtl="0" algn="ctr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b="1" lang="pt-BR">
                <a:solidFill>
                  <a:schemeClr val="accent2"/>
                </a:solidFill>
              </a:rPr>
              <a:t>1- </a:t>
            </a:r>
            <a:r>
              <a:rPr b="1" lang="pt-BR">
                <a:solidFill>
                  <a:srgbClr val="004CA3"/>
                </a:solidFill>
              </a:rPr>
              <a:t>Smart Key:</a:t>
            </a:r>
            <a:endParaRPr b="1">
              <a:solidFill>
                <a:srgbClr val="004CA3"/>
              </a:solidFill>
            </a:endParaRPr>
          </a:p>
          <a:p>
            <a:pPr indent="-133350" lvl="0" marL="285750" rtl="0" algn="ctr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b="1" lang="pt-BR">
                <a:solidFill>
                  <a:schemeClr val="accent2"/>
                </a:solidFill>
              </a:rPr>
              <a:t>YYYY</a:t>
            </a:r>
            <a:r>
              <a:rPr b="1" lang="pt-BR">
                <a:solidFill>
                  <a:srgbClr val="004CA3"/>
                </a:solidFill>
              </a:rPr>
              <a:t>MM</a:t>
            </a:r>
            <a:r>
              <a:rPr b="1" lang="pt-BR">
                <a:solidFill>
                  <a:schemeClr val="accent2"/>
                </a:solidFill>
              </a:rPr>
              <a:t>DD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378" name="Google Shape;378;g3db0c4ec037_0_87"/>
          <p:cNvSpPr txBox="1"/>
          <p:nvPr>
            <p:ph idx="1" type="body"/>
          </p:nvPr>
        </p:nvSpPr>
        <p:spPr>
          <a:xfrm>
            <a:off x="1247375" y="4216100"/>
            <a:ext cx="28695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285750" rtl="0" algn="ctr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b="1" lang="pt-BR">
                <a:solidFill>
                  <a:schemeClr val="accent2"/>
                </a:solidFill>
              </a:rPr>
              <a:t>2- </a:t>
            </a:r>
            <a:r>
              <a:rPr b="1" lang="pt-BR">
                <a:solidFill>
                  <a:srgbClr val="004CA3"/>
                </a:solidFill>
              </a:rPr>
              <a:t>Discriminação</a:t>
            </a:r>
            <a:endParaRPr b="1">
              <a:solidFill>
                <a:srgbClr val="004CA3"/>
              </a:solidFill>
            </a:endParaRPr>
          </a:p>
          <a:p>
            <a:pPr indent="-133350" lvl="0" marL="285750" rtl="0" algn="ctr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b="1" lang="pt-BR">
                <a:solidFill>
                  <a:srgbClr val="004CA3"/>
                </a:solidFill>
              </a:rPr>
              <a:t>p/ group by</a:t>
            </a:r>
            <a:endParaRPr b="1">
              <a:solidFill>
                <a:srgbClr val="004CA3"/>
              </a:solidFill>
            </a:endParaRPr>
          </a:p>
        </p:txBody>
      </p:sp>
      <p:sp>
        <p:nvSpPr>
          <p:cNvPr id="379" name="Google Shape;379;g3db0c4ec037_0_87"/>
          <p:cNvSpPr/>
          <p:nvPr/>
        </p:nvSpPr>
        <p:spPr>
          <a:xfrm>
            <a:off x="4116875" y="3112990"/>
            <a:ext cx="289500" cy="26310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db0c4ec037_0_36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MD: Exemplo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85" name="Google Shape;385;g3db0c4ec037_0_36" title="Loja_Normaliza.png"/>
          <p:cNvPicPr preferRelativeResize="0"/>
          <p:nvPr/>
        </p:nvPicPr>
        <p:blipFill rotWithShape="1">
          <a:blip r:embed="rId3">
            <a:alphaModFix/>
          </a:blip>
          <a:srcRect b="6326" l="3784" r="4372" t="11518"/>
          <a:stretch/>
        </p:blipFill>
        <p:spPr>
          <a:xfrm>
            <a:off x="1249450" y="1044598"/>
            <a:ext cx="10140576" cy="55063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g3db0c4ec037_0_36"/>
          <p:cNvSpPr txBox="1"/>
          <p:nvPr>
            <p:ph idx="1" type="body"/>
          </p:nvPr>
        </p:nvSpPr>
        <p:spPr>
          <a:xfrm>
            <a:off x="6821500" y="3738150"/>
            <a:ext cx="43500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285750" rtl="0" algn="l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b="1" lang="pt-BR">
                <a:solidFill>
                  <a:schemeClr val="accent2"/>
                </a:solidFill>
              </a:rPr>
              <a:t>4</a:t>
            </a:r>
            <a:r>
              <a:rPr b="1" lang="pt-BR">
                <a:solidFill>
                  <a:schemeClr val="accent2"/>
                </a:solidFill>
              </a:rPr>
              <a:t>- </a:t>
            </a:r>
            <a:r>
              <a:rPr b="1" lang="pt-BR">
                <a:solidFill>
                  <a:srgbClr val="004CA3"/>
                </a:solidFill>
              </a:rPr>
              <a:t>Fatos</a:t>
            </a:r>
            <a:r>
              <a:rPr b="1" lang="pt-BR">
                <a:solidFill>
                  <a:srgbClr val="004CA3"/>
                </a:solidFill>
              </a:rPr>
              <a:t>: </a:t>
            </a:r>
            <a:endParaRPr b="1">
              <a:solidFill>
                <a:srgbClr val="004CA3"/>
              </a:solidFill>
            </a:endParaRPr>
          </a:p>
          <a:p>
            <a:pPr indent="-133350" lvl="0" marL="742950" rtl="0" algn="l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lang="pt-BR">
                <a:solidFill>
                  <a:srgbClr val="004CA3"/>
                </a:solidFill>
              </a:rPr>
              <a:t>Vendas</a:t>
            </a:r>
            <a:endParaRPr>
              <a:solidFill>
                <a:srgbClr val="004CA3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9a8c5b7014_0_0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MD: Exemplo - Dimensões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92" name="Google Shape;392;g39a8c5b7014_0_0" title="Untitled.png"/>
          <p:cNvPicPr preferRelativeResize="0"/>
          <p:nvPr/>
        </p:nvPicPr>
        <p:blipFill rotWithShape="1">
          <a:blip r:embed="rId3">
            <a:alphaModFix/>
          </a:blip>
          <a:srcRect b="23346" l="36796" r="41471" t="38022"/>
          <a:stretch/>
        </p:blipFill>
        <p:spPr>
          <a:xfrm>
            <a:off x="6584338" y="1638713"/>
            <a:ext cx="2649076" cy="471732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g39a8c5b7014_0_0"/>
          <p:cNvSpPr txBox="1"/>
          <p:nvPr>
            <p:ph idx="1" type="body"/>
          </p:nvPr>
        </p:nvSpPr>
        <p:spPr>
          <a:xfrm>
            <a:off x="1766425" y="2411150"/>
            <a:ext cx="35247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285750" rtl="0" algn="ctr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b="1" lang="pt-BR">
                <a:solidFill>
                  <a:schemeClr val="accent2"/>
                </a:solidFill>
              </a:rPr>
              <a:t>1- </a:t>
            </a:r>
            <a:r>
              <a:rPr b="1" lang="pt-BR">
                <a:solidFill>
                  <a:srgbClr val="004CA3"/>
                </a:solidFill>
              </a:rPr>
              <a:t>Desnormalização</a:t>
            </a:r>
            <a:endParaRPr b="1">
              <a:solidFill>
                <a:schemeClr val="accent2"/>
              </a:solidFill>
            </a:endParaRPr>
          </a:p>
        </p:txBody>
      </p:sp>
      <p:pic>
        <p:nvPicPr>
          <p:cNvPr id="394" name="Google Shape;394;g39a8c5b7014_0_0" title="Loja_Normaliza.png"/>
          <p:cNvPicPr preferRelativeResize="0"/>
          <p:nvPr/>
        </p:nvPicPr>
        <p:blipFill rotWithShape="1">
          <a:blip r:embed="rId4">
            <a:alphaModFix/>
          </a:blip>
          <a:srcRect b="50307" l="51222" r="4114" t="15998"/>
          <a:stretch/>
        </p:blipFill>
        <p:spPr>
          <a:xfrm>
            <a:off x="896400" y="3546625"/>
            <a:ext cx="4931476" cy="225835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g39a8c5b7014_0_0"/>
          <p:cNvSpPr/>
          <p:nvPr/>
        </p:nvSpPr>
        <p:spPr>
          <a:xfrm rot="5400000">
            <a:off x="3217375" y="2086365"/>
            <a:ext cx="289500" cy="26310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9a8c5b7014_0_0"/>
          <p:cNvSpPr txBox="1"/>
          <p:nvPr>
            <p:ph idx="1" type="body"/>
          </p:nvPr>
        </p:nvSpPr>
        <p:spPr>
          <a:xfrm>
            <a:off x="9656375" y="3784988"/>
            <a:ext cx="15171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285750" rtl="0" algn="ctr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b="1" lang="pt-BR">
                <a:solidFill>
                  <a:schemeClr val="accent2"/>
                </a:solidFill>
              </a:rPr>
              <a:t>2</a:t>
            </a:r>
            <a:r>
              <a:rPr b="1" lang="pt-BR">
                <a:solidFill>
                  <a:schemeClr val="accent2"/>
                </a:solidFill>
              </a:rPr>
              <a:t>- </a:t>
            </a:r>
            <a:r>
              <a:rPr b="1" lang="pt-BR">
                <a:solidFill>
                  <a:srgbClr val="004CA3"/>
                </a:solidFill>
              </a:rPr>
              <a:t>Grão</a:t>
            </a:r>
            <a:endParaRPr b="1">
              <a:solidFill>
                <a:schemeClr val="accent2"/>
              </a:solidFill>
            </a:endParaRPr>
          </a:p>
        </p:txBody>
      </p:sp>
      <p:cxnSp>
        <p:nvCxnSpPr>
          <p:cNvPr id="397" name="Google Shape;397;g39a8c5b7014_0_0"/>
          <p:cNvCxnSpPr>
            <a:stCxn id="395" idx="1"/>
            <a:endCxn id="392" idx="1"/>
          </p:cNvCxnSpPr>
          <p:nvPr/>
        </p:nvCxnSpPr>
        <p:spPr>
          <a:xfrm flipH="1" rot="-5400000">
            <a:off x="4603075" y="2016165"/>
            <a:ext cx="740400" cy="3222300"/>
          </a:xfrm>
          <a:prstGeom prst="curvedConnector4">
            <a:avLst>
              <a:gd fmla="val -32162" name="adj1"/>
              <a:gd fmla="val 70411" name="adj2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8" name="Google Shape;398;g39a8c5b7014_0_0"/>
          <p:cNvCxnSpPr>
            <a:stCxn id="396" idx="1"/>
          </p:cNvCxnSpPr>
          <p:nvPr/>
        </p:nvCxnSpPr>
        <p:spPr>
          <a:xfrm flipH="1">
            <a:off x="7815275" y="3997388"/>
            <a:ext cx="1841100" cy="275700"/>
          </a:xfrm>
          <a:prstGeom prst="curvedConnector3">
            <a:avLst>
              <a:gd fmla="val 50000" name="adj1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9a8c5b7014_0_15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MD: Querys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04" name="Google Shape;404;g39a8c5b7014_0_15" title="Untitled.png"/>
          <p:cNvPicPr preferRelativeResize="0"/>
          <p:nvPr/>
        </p:nvPicPr>
        <p:blipFill rotWithShape="1">
          <a:blip r:embed="rId3">
            <a:alphaModFix/>
          </a:blip>
          <a:srcRect b="23346" l="36796" r="41471" t="38022"/>
          <a:stretch/>
        </p:blipFill>
        <p:spPr>
          <a:xfrm>
            <a:off x="6584338" y="1638713"/>
            <a:ext cx="2649076" cy="471732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g39a8c5b7014_0_15"/>
          <p:cNvSpPr txBox="1"/>
          <p:nvPr>
            <p:ph idx="1" type="body"/>
          </p:nvPr>
        </p:nvSpPr>
        <p:spPr>
          <a:xfrm>
            <a:off x="1766425" y="2411150"/>
            <a:ext cx="35247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285750" rtl="0" algn="ctr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b="1" lang="pt-BR">
                <a:solidFill>
                  <a:schemeClr val="accent2"/>
                </a:solidFill>
              </a:rPr>
              <a:t>1- </a:t>
            </a:r>
            <a:r>
              <a:rPr b="1" lang="pt-BR">
                <a:solidFill>
                  <a:srgbClr val="004CA3"/>
                </a:solidFill>
              </a:rPr>
              <a:t>Desnormalização</a:t>
            </a:r>
            <a:endParaRPr b="1">
              <a:solidFill>
                <a:schemeClr val="accent2"/>
              </a:solidFill>
            </a:endParaRPr>
          </a:p>
        </p:txBody>
      </p:sp>
      <p:pic>
        <p:nvPicPr>
          <p:cNvPr id="406" name="Google Shape;406;g39a8c5b7014_0_15" title="Loja_Normaliza.png"/>
          <p:cNvPicPr preferRelativeResize="0"/>
          <p:nvPr/>
        </p:nvPicPr>
        <p:blipFill rotWithShape="1">
          <a:blip r:embed="rId4">
            <a:alphaModFix/>
          </a:blip>
          <a:srcRect b="50307" l="51222" r="4114" t="15998"/>
          <a:stretch/>
        </p:blipFill>
        <p:spPr>
          <a:xfrm>
            <a:off x="896400" y="3546625"/>
            <a:ext cx="4931476" cy="225835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g39a8c5b7014_0_15"/>
          <p:cNvSpPr/>
          <p:nvPr/>
        </p:nvSpPr>
        <p:spPr>
          <a:xfrm rot="5400000">
            <a:off x="3217375" y="2086365"/>
            <a:ext cx="289500" cy="26310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9a8c5b7014_0_15"/>
          <p:cNvSpPr txBox="1"/>
          <p:nvPr>
            <p:ph idx="1" type="body"/>
          </p:nvPr>
        </p:nvSpPr>
        <p:spPr>
          <a:xfrm>
            <a:off x="9656375" y="3784988"/>
            <a:ext cx="15171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285750" rtl="0" algn="ctr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b="1" lang="pt-BR">
                <a:solidFill>
                  <a:schemeClr val="accent2"/>
                </a:solidFill>
              </a:rPr>
              <a:t>2- </a:t>
            </a:r>
            <a:r>
              <a:rPr b="1" lang="pt-BR">
                <a:solidFill>
                  <a:srgbClr val="004CA3"/>
                </a:solidFill>
              </a:rPr>
              <a:t>Grão</a:t>
            </a:r>
            <a:endParaRPr b="1">
              <a:solidFill>
                <a:schemeClr val="accent2"/>
              </a:solidFill>
            </a:endParaRPr>
          </a:p>
        </p:txBody>
      </p:sp>
      <p:cxnSp>
        <p:nvCxnSpPr>
          <p:cNvPr id="409" name="Google Shape;409;g39a8c5b7014_0_15"/>
          <p:cNvCxnSpPr>
            <a:stCxn id="407" idx="1"/>
            <a:endCxn id="404" idx="1"/>
          </p:cNvCxnSpPr>
          <p:nvPr/>
        </p:nvCxnSpPr>
        <p:spPr>
          <a:xfrm flipH="1" rot="-5400000">
            <a:off x="4603075" y="2016165"/>
            <a:ext cx="740400" cy="3222300"/>
          </a:xfrm>
          <a:prstGeom prst="curvedConnector4">
            <a:avLst>
              <a:gd fmla="val -32162" name="adj1"/>
              <a:gd fmla="val 70411" name="adj2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0" name="Google Shape;410;g39a8c5b7014_0_15"/>
          <p:cNvCxnSpPr>
            <a:stCxn id="408" idx="1"/>
          </p:cNvCxnSpPr>
          <p:nvPr/>
        </p:nvCxnSpPr>
        <p:spPr>
          <a:xfrm flipH="1">
            <a:off x="7815275" y="3997388"/>
            <a:ext cx="1841100" cy="275700"/>
          </a:xfrm>
          <a:prstGeom prst="curvedConnector3">
            <a:avLst>
              <a:gd fmla="val 50000" name="adj1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9a8c5b7014_0_79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Query: Modelo Relacional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6" name="Google Shape;416;g39a8c5b7014_0_79"/>
          <p:cNvSpPr txBox="1"/>
          <p:nvPr>
            <p:ph idx="2" type="body"/>
          </p:nvPr>
        </p:nvSpPr>
        <p:spPr>
          <a:xfrm>
            <a:off x="896400" y="2336750"/>
            <a:ext cx="11004900" cy="29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8925" spcFirstLastPara="1" rIns="98925" wrap="square" tIns="4945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SELECT</a:t>
            </a:r>
            <a:endParaRPr sz="1750">
              <a:solidFill>
                <a:srgbClr val="0000FF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c.nome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AS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categoria,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pt-BR" sz="1750">
                <a:solidFill>
                  <a:srgbClr val="795E26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SUM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(iv.valor_total)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AS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total_vendido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Item_Venda iv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JOIN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Produto p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ON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iv.id_produto = p.id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JOIN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Categoria c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ON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p.id_categoria = c.id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GROUP BY</a:t>
            </a:r>
            <a:endParaRPr sz="1750">
              <a:solidFill>
                <a:srgbClr val="0000FF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c.nome;</a:t>
            </a:r>
            <a:endParaRPr sz="1750">
              <a:solidFill>
                <a:srgbClr val="0000FF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17" name="Google Shape;417;g39a8c5b7014_0_79"/>
          <p:cNvSpPr txBox="1"/>
          <p:nvPr>
            <p:ph idx="2" type="body"/>
          </p:nvPr>
        </p:nvSpPr>
        <p:spPr>
          <a:xfrm>
            <a:off x="2767725" y="4499625"/>
            <a:ext cx="4517100" cy="459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9450" lIns="98925" spcFirstLastPara="1" rIns="98925" wrap="square" tIns="49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97">
                <a:solidFill>
                  <a:schemeClr val="accent2"/>
                </a:solidFill>
              </a:rPr>
              <a:t>Joins </a:t>
            </a:r>
            <a:r>
              <a:rPr lang="pt-BR" sz="2597">
                <a:solidFill>
                  <a:schemeClr val="accent2"/>
                </a:solidFill>
              </a:rPr>
              <a:t>multinível:    iv→p→c</a:t>
            </a:r>
            <a:endParaRPr sz="2597">
              <a:solidFill>
                <a:schemeClr val="accent2"/>
              </a:solidFill>
            </a:endParaRPr>
          </a:p>
        </p:txBody>
      </p:sp>
      <p:sp>
        <p:nvSpPr>
          <p:cNvPr id="418" name="Google Shape;418;g39a8c5b7014_0_79"/>
          <p:cNvSpPr txBox="1"/>
          <p:nvPr>
            <p:ph idx="2" type="body"/>
          </p:nvPr>
        </p:nvSpPr>
        <p:spPr>
          <a:xfrm>
            <a:off x="1033450" y="1136713"/>
            <a:ext cx="11004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8925" spcFirstLastPara="1" rIns="98925" wrap="square" tIns="4945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50">
                <a:solidFill>
                  <a:srgbClr val="0000FF"/>
                </a:solidFill>
                <a:highlight>
                  <a:srgbClr val="FFFFFF"/>
                </a:highlight>
              </a:rPr>
              <a:t>Qual foi o valor total vendido para cada categoria de produtos?</a:t>
            </a:r>
            <a:endParaRPr b="1" sz="2050">
              <a:solidFill>
                <a:srgbClr val="FF7B7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9a8c5b7014_0_87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Query: Modelo Dimensional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t/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4" name="Google Shape;424;g39a8c5b7014_0_87"/>
          <p:cNvSpPr txBox="1"/>
          <p:nvPr>
            <p:ph idx="2" type="body"/>
          </p:nvPr>
        </p:nvSpPr>
        <p:spPr>
          <a:xfrm>
            <a:off x="896400" y="2398200"/>
            <a:ext cx="11004900" cy="2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8925" spcFirstLastPara="1" rIns="98925" wrap="square" tIns="4945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SELECT</a:t>
            </a:r>
            <a:endParaRPr sz="1750">
              <a:solidFill>
                <a:srgbClr val="0000FF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dp.nome_categoria,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pt-BR" sz="1750">
                <a:solidFill>
                  <a:srgbClr val="795E26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SUM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(f.valor_total)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AS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total_vendido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FactVendaItem f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JOIN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DimProduto dp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ON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f.sk_produto = dp.sk_produto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GROUP BY</a:t>
            </a:r>
            <a:endParaRPr sz="1750">
              <a:solidFill>
                <a:srgbClr val="0000FF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dp.nome_categoria;</a:t>
            </a:r>
            <a:endParaRPr sz="1750">
              <a:solidFill>
                <a:srgbClr val="0000FF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25" name="Google Shape;425;g39a8c5b7014_0_87"/>
          <p:cNvSpPr txBox="1"/>
          <p:nvPr/>
        </p:nvSpPr>
        <p:spPr>
          <a:xfrm>
            <a:off x="4173170" y="2506733"/>
            <a:ext cx="3246000" cy="559500"/>
          </a:xfrm>
          <a:prstGeom prst="rect">
            <a:avLst/>
          </a:prstGeom>
          <a:noFill/>
          <a:ln cap="flat" cmpd="sng" w="206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8925" lIns="98925" spcFirstLastPara="1" rIns="98925" wrap="square" tIns="989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97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Fatos:</a:t>
            </a:r>
            <a:r>
              <a:rPr lang="pt-BR" sz="2597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Agregações</a:t>
            </a:r>
            <a:endParaRPr sz="2597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6" name="Google Shape;426;g39a8c5b7014_0_87"/>
          <p:cNvSpPr txBox="1"/>
          <p:nvPr>
            <p:ph idx="2" type="body"/>
          </p:nvPr>
        </p:nvSpPr>
        <p:spPr>
          <a:xfrm>
            <a:off x="7698150" y="3787275"/>
            <a:ext cx="2613000" cy="459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9450" lIns="98925" spcFirstLastPara="1" rIns="98925" wrap="square" tIns="494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97">
                <a:solidFill>
                  <a:schemeClr val="accent2"/>
                </a:solidFill>
              </a:rPr>
              <a:t>Surrogate Key</a:t>
            </a:r>
            <a:endParaRPr sz="2597">
              <a:solidFill>
                <a:schemeClr val="accent2"/>
              </a:solidFill>
            </a:endParaRPr>
          </a:p>
        </p:txBody>
      </p:sp>
      <p:sp>
        <p:nvSpPr>
          <p:cNvPr id="427" name="Google Shape;427;g39a8c5b7014_0_87"/>
          <p:cNvSpPr txBox="1"/>
          <p:nvPr>
            <p:ph idx="2" type="body"/>
          </p:nvPr>
        </p:nvSpPr>
        <p:spPr>
          <a:xfrm>
            <a:off x="1033450" y="1136713"/>
            <a:ext cx="11004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8925" spcFirstLastPara="1" rIns="98925" wrap="square" tIns="4945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50">
                <a:solidFill>
                  <a:srgbClr val="0000FF"/>
                </a:solidFill>
                <a:highlight>
                  <a:srgbClr val="FFFFFF"/>
                </a:highlight>
              </a:rPr>
              <a:t>Qual foi o valor total vendido para cada categoria de produtos?</a:t>
            </a:r>
            <a:endParaRPr b="1" sz="2050">
              <a:solidFill>
                <a:srgbClr val="FF7B72"/>
              </a:solidFill>
            </a:endParaRPr>
          </a:p>
        </p:txBody>
      </p:sp>
      <p:sp>
        <p:nvSpPr>
          <p:cNvPr id="428" name="Google Shape;428;g39a8c5b7014_0_87"/>
          <p:cNvSpPr txBox="1"/>
          <p:nvPr>
            <p:ph idx="2" type="body"/>
          </p:nvPr>
        </p:nvSpPr>
        <p:spPr>
          <a:xfrm>
            <a:off x="4173176" y="4175363"/>
            <a:ext cx="2858400" cy="459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9450" lIns="98925" spcFirstLastPara="1" rIns="98925" wrap="square" tIns="494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97">
                <a:solidFill>
                  <a:schemeClr val="accent2"/>
                </a:solidFill>
              </a:rPr>
              <a:t>Joins: </a:t>
            </a:r>
            <a:r>
              <a:rPr lang="pt-BR" sz="2597">
                <a:solidFill>
                  <a:schemeClr val="accent2"/>
                </a:solidFill>
              </a:rPr>
              <a:t>Dim→Fato </a:t>
            </a:r>
            <a:endParaRPr sz="2597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9a8c5b7014_0_38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Query: Modelo Relacional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4" name="Google Shape;434;g39a8c5b7014_0_38"/>
          <p:cNvSpPr txBox="1"/>
          <p:nvPr>
            <p:ph idx="2" type="body"/>
          </p:nvPr>
        </p:nvSpPr>
        <p:spPr>
          <a:xfrm>
            <a:off x="896400" y="2336750"/>
            <a:ext cx="11004900" cy="40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8925" spcFirstLastPara="1" rIns="98925" wrap="square" tIns="4945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SELECT</a:t>
            </a:r>
            <a:endParaRPr sz="1750">
              <a:solidFill>
                <a:srgbClr val="0000FF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pt-BR" sz="1750">
                <a:solidFill>
                  <a:srgbClr val="795E26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SUM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(iv.quantidade)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AS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total_itens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Item_Venda iv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JOIN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Venda v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ON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iv.id_venda = v.id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JOIN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Loja l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ON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v.id_loja = l.id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JOIN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Produto p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ON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iv.id_produto = p.id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JOIN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Categoria c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ON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p.id_categoria = c.id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WHERE</a:t>
            </a:r>
            <a:endParaRPr sz="1750">
              <a:solidFill>
                <a:srgbClr val="0000FF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c.nome = </a:t>
            </a:r>
            <a:r>
              <a:rPr lang="pt-BR" sz="1750">
                <a:solidFill>
                  <a:srgbClr val="A31515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'Bebidas'</a:t>
            </a:r>
            <a:endParaRPr sz="1750">
              <a:solidFill>
                <a:srgbClr val="A31515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AND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l.estado = </a:t>
            </a:r>
            <a:r>
              <a:rPr lang="pt-BR" sz="1750">
                <a:solidFill>
                  <a:srgbClr val="A31515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'SP'</a:t>
            </a:r>
            <a:endParaRPr sz="1750">
              <a:solidFill>
                <a:srgbClr val="A31515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AND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EXTRACT(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MONTH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v.data_hora)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(</a:t>
            </a:r>
            <a:r>
              <a:rPr lang="pt-BR" sz="1750">
                <a:solidFill>
                  <a:srgbClr val="09865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pt-BR" sz="1750">
                <a:solidFill>
                  <a:srgbClr val="09865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pt-BR" sz="1750">
                <a:solidFill>
                  <a:srgbClr val="09865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endParaRPr sz="1750">
              <a:solidFill>
                <a:srgbClr val="FF7B7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35" name="Google Shape;435;g39a8c5b7014_0_38"/>
          <p:cNvSpPr txBox="1"/>
          <p:nvPr/>
        </p:nvSpPr>
        <p:spPr>
          <a:xfrm>
            <a:off x="6408397" y="5402625"/>
            <a:ext cx="1998300" cy="559500"/>
          </a:xfrm>
          <a:prstGeom prst="rect">
            <a:avLst/>
          </a:prstGeom>
          <a:noFill/>
          <a:ln cap="flat" cmpd="sng" w="206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8925" lIns="98925" spcFirstLastPara="1" rIns="98925" wrap="square" tIns="989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97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1º Trimestre</a:t>
            </a:r>
            <a:endParaRPr sz="2597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6" name="Google Shape;436;g39a8c5b7014_0_38"/>
          <p:cNvSpPr txBox="1"/>
          <p:nvPr>
            <p:ph idx="2" type="body"/>
          </p:nvPr>
        </p:nvSpPr>
        <p:spPr>
          <a:xfrm>
            <a:off x="5854300" y="3595350"/>
            <a:ext cx="2636100" cy="459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9450" lIns="98925" spcFirstLastPara="1" rIns="98925" wrap="square" tIns="49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97">
                <a:solidFill>
                  <a:schemeClr val="accent2"/>
                </a:solidFill>
              </a:rPr>
              <a:t>Joins </a:t>
            </a:r>
            <a:r>
              <a:rPr lang="pt-BR" sz="2597">
                <a:solidFill>
                  <a:schemeClr val="accent2"/>
                </a:solidFill>
              </a:rPr>
              <a:t>multinível</a:t>
            </a:r>
            <a:endParaRPr sz="2597">
              <a:solidFill>
                <a:schemeClr val="accent2"/>
              </a:solidFill>
            </a:endParaRPr>
          </a:p>
        </p:txBody>
      </p:sp>
      <p:sp>
        <p:nvSpPr>
          <p:cNvPr id="437" name="Google Shape;437;g39a8c5b7014_0_38"/>
          <p:cNvSpPr txBox="1"/>
          <p:nvPr>
            <p:ph idx="2" type="body"/>
          </p:nvPr>
        </p:nvSpPr>
        <p:spPr>
          <a:xfrm>
            <a:off x="1033450" y="1136713"/>
            <a:ext cx="11004900" cy="8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8925" spcFirstLastPara="1" rIns="98925" wrap="square" tIns="4945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50">
                <a:solidFill>
                  <a:srgbClr val="0000FF"/>
                </a:solidFill>
                <a:highlight>
                  <a:srgbClr val="FFFFFF"/>
                </a:highlight>
              </a:rPr>
              <a:t>Quantos produtos da categoria 'Bebidas' foram vendidos nas lojas do estado de 'SP' durante o 1º Trimestre (Q1)</a:t>
            </a:r>
            <a:endParaRPr b="1" sz="2050">
              <a:solidFill>
                <a:srgbClr val="FF7B7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9a8c5b7014_0_26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Query: Modelo Dimensional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t/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3" name="Google Shape;443;g39a8c5b7014_0_26"/>
          <p:cNvSpPr txBox="1"/>
          <p:nvPr>
            <p:ph idx="2" type="body"/>
          </p:nvPr>
        </p:nvSpPr>
        <p:spPr>
          <a:xfrm>
            <a:off x="896400" y="2398200"/>
            <a:ext cx="110049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8925" spcFirstLastPara="1" rIns="98925" wrap="square" tIns="4945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SELECT</a:t>
            </a:r>
            <a:endParaRPr sz="1750">
              <a:solidFill>
                <a:srgbClr val="0000FF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pt-BR" sz="1750">
                <a:solidFill>
                  <a:srgbClr val="795E26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SUM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(f.quantidade)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AS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total_itens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FactVendaItem f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JOIN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DimProduto dp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ON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f.sk_produto = dp.sk_produto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JOIN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DimLoja dl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ON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f.sk_loja = dl.sk_loja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JOIN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DimData dd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ON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f.sk_data = dd.sk_data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WHERE</a:t>
            </a:r>
            <a:endParaRPr sz="1750">
              <a:solidFill>
                <a:srgbClr val="0000FF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dp.nome_categoria = </a:t>
            </a:r>
            <a:r>
              <a:rPr lang="pt-BR" sz="1750">
                <a:solidFill>
                  <a:srgbClr val="A31515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'Bebidas'</a:t>
            </a:r>
            <a:endParaRPr sz="1750">
              <a:solidFill>
                <a:srgbClr val="A31515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AND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dl.estado = </a:t>
            </a:r>
            <a:r>
              <a:rPr lang="pt-BR" sz="1750">
                <a:solidFill>
                  <a:srgbClr val="A31515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'SP'</a:t>
            </a:r>
            <a:endParaRPr sz="1750">
              <a:solidFill>
                <a:srgbClr val="A31515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AND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dd.trimestre_fiscal = </a:t>
            </a:r>
            <a:r>
              <a:rPr lang="pt-BR" sz="1750">
                <a:solidFill>
                  <a:srgbClr val="A31515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'Q1'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sz="1750">
              <a:solidFill>
                <a:srgbClr val="004CA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44" name="Google Shape;444;g39a8c5b7014_0_26"/>
          <p:cNvSpPr txBox="1"/>
          <p:nvPr/>
        </p:nvSpPr>
        <p:spPr>
          <a:xfrm>
            <a:off x="5422800" y="5109150"/>
            <a:ext cx="3103800" cy="559500"/>
          </a:xfrm>
          <a:prstGeom prst="rect">
            <a:avLst/>
          </a:prstGeom>
          <a:noFill/>
          <a:ln cap="flat" cmpd="sng" w="206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8925" lIns="98925" spcFirstLastPara="1" rIns="98925" wrap="square" tIns="989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97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Dimensões: </a:t>
            </a:r>
            <a:r>
              <a:rPr lang="pt-BR" sz="2597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Filtros</a:t>
            </a:r>
            <a:endParaRPr sz="2597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5" name="Google Shape;445;g39a8c5b7014_0_26"/>
          <p:cNvSpPr txBox="1"/>
          <p:nvPr/>
        </p:nvSpPr>
        <p:spPr>
          <a:xfrm>
            <a:off x="2176795" y="2193233"/>
            <a:ext cx="3246000" cy="559500"/>
          </a:xfrm>
          <a:prstGeom prst="rect">
            <a:avLst/>
          </a:prstGeom>
          <a:noFill/>
          <a:ln cap="flat" cmpd="sng" w="206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8925" lIns="98925" spcFirstLastPara="1" rIns="98925" wrap="square" tIns="989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97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Fatos:</a:t>
            </a:r>
            <a:r>
              <a:rPr lang="pt-BR" sz="2597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Agregações</a:t>
            </a:r>
            <a:endParaRPr sz="2597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6" name="Google Shape;446;g39a8c5b7014_0_26"/>
          <p:cNvSpPr txBox="1"/>
          <p:nvPr>
            <p:ph idx="2" type="body"/>
          </p:nvPr>
        </p:nvSpPr>
        <p:spPr>
          <a:xfrm>
            <a:off x="6721525" y="4098000"/>
            <a:ext cx="3420900" cy="459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9450" lIns="98925" spcFirstLastPara="1" rIns="98925" wrap="square" tIns="494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97">
                <a:solidFill>
                  <a:schemeClr val="accent2"/>
                </a:solidFill>
              </a:rPr>
              <a:t>Joins: </a:t>
            </a:r>
            <a:r>
              <a:rPr lang="pt-BR" sz="2597">
                <a:solidFill>
                  <a:schemeClr val="accent2"/>
                </a:solidFill>
              </a:rPr>
              <a:t>Surrogate Key</a:t>
            </a:r>
            <a:endParaRPr sz="2597">
              <a:solidFill>
                <a:schemeClr val="accent2"/>
              </a:solidFill>
            </a:endParaRPr>
          </a:p>
        </p:txBody>
      </p:sp>
      <p:sp>
        <p:nvSpPr>
          <p:cNvPr id="447" name="Google Shape;447;g39a8c5b7014_0_26"/>
          <p:cNvSpPr txBox="1"/>
          <p:nvPr/>
        </p:nvSpPr>
        <p:spPr>
          <a:xfrm>
            <a:off x="3208000" y="6057600"/>
            <a:ext cx="4197300" cy="559500"/>
          </a:xfrm>
          <a:prstGeom prst="rect">
            <a:avLst/>
          </a:prstGeom>
          <a:noFill/>
          <a:ln cap="flat" cmpd="sng" w="206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8925" lIns="98925" spcFirstLastPara="1" rIns="98925" wrap="square" tIns="989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97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1º Trimestre Discriminado</a:t>
            </a:r>
            <a:endParaRPr sz="2597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8" name="Google Shape;448;g39a8c5b7014_0_26"/>
          <p:cNvSpPr txBox="1"/>
          <p:nvPr>
            <p:ph idx="2" type="body"/>
          </p:nvPr>
        </p:nvSpPr>
        <p:spPr>
          <a:xfrm>
            <a:off x="1033450" y="1136713"/>
            <a:ext cx="11004900" cy="8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8925" spcFirstLastPara="1" rIns="98925" wrap="square" tIns="4945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50">
                <a:solidFill>
                  <a:srgbClr val="0000FF"/>
                </a:solidFill>
                <a:highlight>
                  <a:srgbClr val="FFFFFF"/>
                </a:highlight>
              </a:rPr>
              <a:t>Quantos produtos da categoria 'Bebidas' foram vendidos nas lojas do estado de 'SP' durante o 1º Trimestre (Q1)</a:t>
            </a:r>
            <a:endParaRPr b="1" sz="2050">
              <a:solidFill>
                <a:srgbClr val="FF7B72"/>
              </a:solidFill>
            </a:endParaRPr>
          </a:p>
        </p:txBody>
      </p:sp>
      <p:sp>
        <p:nvSpPr>
          <p:cNvPr id="449" name="Google Shape;449;g39a8c5b7014_0_26"/>
          <p:cNvSpPr txBox="1"/>
          <p:nvPr>
            <p:ph idx="2" type="body"/>
          </p:nvPr>
        </p:nvSpPr>
        <p:spPr>
          <a:xfrm>
            <a:off x="7729976" y="3375575"/>
            <a:ext cx="2858400" cy="459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9450" lIns="98925" spcFirstLastPara="1" rIns="98925" wrap="square" tIns="494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97">
                <a:solidFill>
                  <a:schemeClr val="accent2"/>
                </a:solidFill>
              </a:rPr>
              <a:t>Joins: </a:t>
            </a:r>
            <a:r>
              <a:rPr lang="pt-BR" sz="2597">
                <a:solidFill>
                  <a:schemeClr val="accent2"/>
                </a:solidFill>
              </a:rPr>
              <a:t>Dim→Fato</a:t>
            </a:r>
            <a:r>
              <a:rPr lang="pt-BR" sz="2597">
                <a:solidFill>
                  <a:schemeClr val="accent2"/>
                </a:solidFill>
              </a:rPr>
              <a:t> </a:t>
            </a:r>
            <a:endParaRPr sz="2597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9a8c5b7014_0_56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Query: Modelo Relacional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5" name="Google Shape;455;g39a8c5b7014_0_56"/>
          <p:cNvSpPr txBox="1"/>
          <p:nvPr>
            <p:ph idx="2" type="body"/>
          </p:nvPr>
        </p:nvSpPr>
        <p:spPr>
          <a:xfrm>
            <a:off x="896400" y="1987100"/>
            <a:ext cx="11004900" cy="43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8925" spcFirstLastPara="1" rIns="98925" wrap="square" tIns="4945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SELECT</a:t>
            </a:r>
            <a:endParaRPr sz="1750">
              <a:solidFill>
                <a:srgbClr val="0000FF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l.nome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AS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loja,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EXTRACT(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YEAR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v.data_hora)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AS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ano,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EXTRACT(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MONTH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v.data_hora)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AS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mes,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pt-BR" sz="1750">
                <a:solidFill>
                  <a:srgbClr val="795E26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SUM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(iv.valor_total)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AS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faturamento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Item_Venda iv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JOIN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Venda v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ON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iv.id_venda = v.id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JOIN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Loja l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ON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v.id_loja = l.id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GROUP BY</a:t>
            </a:r>
            <a:endParaRPr sz="1750">
              <a:solidFill>
                <a:srgbClr val="0000FF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l.nome,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EXTRACT(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YEAR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v.data_hora),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EXTRACT(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MONTH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v.data_hora);</a:t>
            </a:r>
            <a:endParaRPr sz="1750">
              <a:solidFill>
                <a:srgbClr val="0000FF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56" name="Google Shape;456;g39a8c5b7014_0_56"/>
          <p:cNvSpPr txBox="1"/>
          <p:nvPr/>
        </p:nvSpPr>
        <p:spPr>
          <a:xfrm>
            <a:off x="2634575" y="5101200"/>
            <a:ext cx="3094800" cy="559500"/>
          </a:xfrm>
          <a:prstGeom prst="rect">
            <a:avLst/>
          </a:prstGeom>
          <a:noFill/>
          <a:ln cap="flat" cmpd="sng" w="206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8925" lIns="98925" spcFirstLastPara="1" rIns="98925" wrap="square" tIns="989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97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Group by function</a:t>
            </a:r>
            <a:endParaRPr sz="2597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7" name="Google Shape;457;g39a8c5b7014_0_56"/>
          <p:cNvSpPr txBox="1"/>
          <p:nvPr>
            <p:ph idx="2" type="body"/>
          </p:nvPr>
        </p:nvSpPr>
        <p:spPr>
          <a:xfrm>
            <a:off x="1033450" y="1136713"/>
            <a:ext cx="11004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8925" spcFirstLastPara="1" rIns="98925" wrap="square" tIns="4945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50">
                <a:solidFill>
                  <a:srgbClr val="0000FF"/>
                </a:solidFill>
                <a:highlight>
                  <a:srgbClr val="FFFFFF"/>
                </a:highlight>
              </a:rPr>
              <a:t>Qual foi o faturamento de cada loja agrupado por ano e mês? </a:t>
            </a:r>
            <a:endParaRPr b="1" sz="2050">
              <a:solidFill>
                <a:srgbClr val="FF7B72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9a8c5b7014_0_64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Query: Modelo Dimensional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t/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3" name="Google Shape;463;g39a8c5b7014_0_64"/>
          <p:cNvSpPr txBox="1"/>
          <p:nvPr>
            <p:ph idx="2" type="body"/>
          </p:nvPr>
        </p:nvSpPr>
        <p:spPr>
          <a:xfrm>
            <a:off x="896400" y="1988275"/>
            <a:ext cx="11004900" cy="43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8925" spcFirstLastPara="1" rIns="98925" wrap="square" tIns="4945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SELECT</a:t>
            </a:r>
            <a:endParaRPr sz="1750">
              <a:solidFill>
                <a:srgbClr val="0000FF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dl.nome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AS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loja,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dd.ano,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dd.mes,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pt-BR" sz="1750">
                <a:solidFill>
                  <a:srgbClr val="795E26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SUM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(f.valor_total)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AS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faturamento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FactVendaItem f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JOIN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DimLoja dl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ON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f.sk_loja = dl.sk_loja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JOIN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DimData dd </a:t>
            </a: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ON</a:t>
            </a: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f.sk_data = dd.sk_data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solidFill>
                  <a:srgbClr val="0000FF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GROUP BY</a:t>
            </a:r>
            <a:endParaRPr sz="1750">
              <a:solidFill>
                <a:srgbClr val="0000FF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dl.nome,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dd.ano,</a:t>
            </a:r>
            <a:endParaRPr sz="1750"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50"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dd.mes;</a:t>
            </a:r>
            <a:endParaRPr sz="1750">
              <a:solidFill>
                <a:srgbClr val="0000FF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64" name="Google Shape;464;g39a8c5b7014_0_64"/>
          <p:cNvSpPr txBox="1"/>
          <p:nvPr/>
        </p:nvSpPr>
        <p:spPr>
          <a:xfrm>
            <a:off x="2808600" y="5482900"/>
            <a:ext cx="3948000" cy="559500"/>
          </a:xfrm>
          <a:prstGeom prst="rect">
            <a:avLst/>
          </a:prstGeom>
          <a:noFill/>
          <a:ln cap="flat" cmpd="sng" w="206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8925" lIns="98925" spcFirstLastPara="1" rIns="98925" wrap="square" tIns="989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97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Group By</a:t>
            </a:r>
            <a:r>
              <a:rPr b="1" lang="pt-BR" sz="2597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r>
              <a:rPr lang="pt-BR" sz="2597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Dimensões</a:t>
            </a:r>
            <a:endParaRPr sz="2597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5" name="Google Shape;465;g39a8c5b7014_0_64"/>
          <p:cNvSpPr txBox="1"/>
          <p:nvPr/>
        </p:nvSpPr>
        <p:spPr>
          <a:xfrm>
            <a:off x="2808595" y="2844308"/>
            <a:ext cx="3246000" cy="559500"/>
          </a:xfrm>
          <a:prstGeom prst="rect">
            <a:avLst/>
          </a:prstGeom>
          <a:noFill/>
          <a:ln cap="flat" cmpd="sng" w="206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8925" lIns="98925" spcFirstLastPara="1" rIns="98925" wrap="square" tIns="989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97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Fatos:</a:t>
            </a:r>
            <a:r>
              <a:rPr lang="pt-BR" sz="2597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Agregações</a:t>
            </a:r>
            <a:endParaRPr sz="2597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6" name="Google Shape;466;g39a8c5b7014_0_64"/>
          <p:cNvSpPr txBox="1"/>
          <p:nvPr>
            <p:ph idx="2" type="body"/>
          </p:nvPr>
        </p:nvSpPr>
        <p:spPr>
          <a:xfrm>
            <a:off x="1033450" y="1136713"/>
            <a:ext cx="11004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8925" spcFirstLastPara="1" rIns="98925" wrap="square" tIns="4945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50">
                <a:solidFill>
                  <a:srgbClr val="0000FF"/>
                </a:solidFill>
                <a:highlight>
                  <a:schemeClr val="lt1"/>
                </a:highlight>
              </a:rPr>
              <a:t>Qual foi o faturamento de cada loja agrupado por ano e mês? </a:t>
            </a:r>
            <a:endParaRPr b="1" sz="2050">
              <a:solidFill>
                <a:srgbClr val="0000F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df1bd60aa5_0_0"/>
          <p:cNvSpPr txBox="1"/>
          <p:nvPr>
            <p:ph idx="1" type="body"/>
          </p:nvPr>
        </p:nvSpPr>
        <p:spPr>
          <a:xfrm>
            <a:off x="7010275" y="2764300"/>
            <a:ext cx="51816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285750" rtl="0" algn="ctr"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rPr b="1" lang="pt-BR">
                <a:solidFill>
                  <a:schemeClr val="accent2"/>
                </a:solidFill>
              </a:rPr>
              <a:t>Link DB.io: </a:t>
            </a:r>
            <a:r>
              <a:rPr b="1" lang="pt-BR">
                <a:solidFill>
                  <a:schemeClr val="accent2"/>
                </a:solidFill>
              </a:rPr>
              <a:t> </a:t>
            </a:r>
            <a:r>
              <a:rPr b="1" lang="pt-BR">
                <a:solidFill>
                  <a:srgbClr val="004CA3"/>
                </a:solidFill>
              </a:rPr>
              <a:t>https://bit.ly/4tXTHyV</a:t>
            </a:r>
            <a:endParaRPr b="1">
              <a:solidFill>
                <a:srgbClr val="004CA3"/>
              </a:solidFill>
            </a:endParaRPr>
          </a:p>
        </p:txBody>
      </p:sp>
      <p:sp>
        <p:nvSpPr>
          <p:cNvPr id="472" name="Google Shape;472;g3df1bd60aa5_0_0"/>
          <p:cNvSpPr txBox="1"/>
          <p:nvPr>
            <p:ph type="title"/>
          </p:nvPr>
        </p:nvSpPr>
        <p:spPr>
          <a:xfrm>
            <a:off x="896400" y="453600"/>
            <a:ext cx="7772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pt-BR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Atividade</a:t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t/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3" name="Google Shape;473;g3df1bd60aa5_0_0"/>
          <p:cNvSpPr txBox="1"/>
          <p:nvPr>
            <p:ph idx="2" type="body"/>
          </p:nvPr>
        </p:nvSpPr>
        <p:spPr>
          <a:xfrm>
            <a:off x="1033450" y="1136713"/>
            <a:ext cx="11004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98925" spcFirstLastPara="1" rIns="98925" wrap="square" tIns="4945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50">
                <a:solidFill>
                  <a:srgbClr val="0000FF"/>
                </a:solidFill>
                <a:highlight>
                  <a:schemeClr val="lt1"/>
                </a:highlight>
              </a:rPr>
              <a:t>Transforme o </a:t>
            </a:r>
            <a:r>
              <a:rPr b="1" i="1" lang="pt-BR" sz="2050">
                <a:solidFill>
                  <a:srgbClr val="0000FF"/>
                </a:solidFill>
                <a:highlight>
                  <a:schemeClr val="lt1"/>
                </a:highlight>
              </a:rPr>
              <a:t>schema </a:t>
            </a:r>
            <a:r>
              <a:rPr b="1" lang="pt-BR" sz="2050">
                <a:solidFill>
                  <a:srgbClr val="0000FF"/>
                </a:solidFill>
                <a:highlight>
                  <a:schemeClr val="lt1"/>
                </a:highlight>
              </a:rPr>
              <a:t>em um modelo dimensional</a:t>
            </a:r>
            <a:endParaRPr b="1" sz="2050">
              <a:solidFill>
                <a:srgbClr val="0000FF"/>
              </a:solidFill>
              <a:highlight>
                <a:srgbClr val="FFFFFF"/>
              </a:highlight>
            </a:endParaRPr>
          </a:p>
        </p:txBody>
      </p:sp>
      <p:pic>
        <p:nvPicPr>
          <p:cNvPr id="474" name="Google Shape;474;g3df1bd60aa5_0_0" title="Untitled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450" y="1689950"/>
            <a:ext cx="5976821" cy="516805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g3df1bd60aa5_0_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6" name="Google Shape;476;g3df1bd60aa5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2324" y="3189100"/>
            <a:ext cx="2832500" cy="283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9a5c736075_0_146"/>
          <p:cNvSpPr txBox="1"/>
          <p:nvPr>
            <p:ph idx="4" type="body"/>
          </p:nvPr>
        </p:nvSpPr>
        <p:spPr>
          <a:xfrm>
            <a:off x="580103" y="1800490"/>
            <a:ext cx="4627500" cy="31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i="1" lang="pt-BR">
                <a:solidFill>
                  <a:srgbClr val="7F7F7F"/>
                </a:solidFill>
              </a:rPr>
              <a:t>Referências</a:t>
            </a:r>
            <a:endParaRPr i="1">
              <a:solidFill>
                <a:srgbClr val="7F7F7F"/>
              </a:solidFill>
            </a:endParaRPr>
          </a:p>
        </p:txBody>
      </p:sp>
      <p:sp>
        <p:nvSpPr>
          <p:cNvPr id="482" name="Google Shape;482;g39a5c736075_0_146"/>
          <p:cNvSpPr txBox="1"/>
          <p:nvPr>
            <p:ph idx="2" type="body"/>
          </p:nvPr>
        </p:nvSpPr>
        <p:spPr>
          <a:xfrm>
            <a:off x="6664700" y="1445409"/>
            <a:ext cx="5200200" cy="48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pt-BR" u="sng">
                <a:solidFill>
                  <a:schemeClr val="hlink"/>
                </a:solidFill>
                <a:hlinkClick r:id="rId3"/>
              </a:rPr>
              <a:t>Azzabi, S.; Alfughi, Z.; Ouda, A. Data Lakes: A Survey of Concepts and Architectures. Computers 2024, 13, 183. </a:t>
            </a:r>
            <a:r>
              <a:rPr lang="pt-BR" u="sng">
                <a:solidFill>
                  <a:schemeClr val="hlink"/>
                </a:solidFill>
                <a:hlinkClick r:id="rId4"/>
              </a:rPr>
              <a:t>https://doi.org/10.3390/computers13070183</a:t>
            </a:r>
            <a:endParaRPr b="0" sz="1600">
              <a:solidFill>
                <a:srgbClr val="164193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pt-BR" sz="1600" u="sng">
                <a:solidFill>
                  <a:schemeClr val="hlink"/>
                </a:solidFill>
                <a:hlinkClick r:id="rId5"/>
              </a:rPr>
              <a:t>Dimensional Modeling Techniques. Disponível em: &lt;https://www.kimballgroup.com/data-warehouse-business-intelligence-resources/kimball-techniques/dimensional-modeling-techniques/&gt;</a:t>
            </a:r>
            <a:r>
              <a:rPr lang="pt-BR" sz="1600">
                <a:solidFill>
                  <a:srgbClr val="164193"/>
                </a:solidFill>
              </a:rPr>
              <a:t>.</a:t>
            </a:r>
            <a:endParaRPr sz="1600">
              <a:solidFill>
                <a:srgbClr val="16419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>
              <a:solidFill>
                <a:srgbClr val="16419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600">
                <a:solidFill>
                  <a:srgbClr val="164193"/>
                </a:solidFill>
              </a:rPr>
              <a:t>‌</a:t>
            </a:r>
            <a:endParaRPr b="0" sz="1600">
              <a:solidFill>
                <a:srgbClr val="164193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8"/>
          <p:cNvSpPr txBox="1"/>
          <p:nvPr>
            <p:ph idx="1" type="body"/>
          </p:nvPr>
        </p:nvSpPr>
        <p:spPr>
          <a:xfrm>
            <a:off x="5974972" y="2491580"/>
            <a:ext cx="38418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5714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8" name="Google Shape;488;p8"/>
          <p:cNvSpPr txBox="1"/>
          <p:nvPr>
            <p:ph idx="2" type="body"/>
          </p:nvPr>
        </p:nvSpPr>
        <p:spPr>
          <a:xfrm>
            <a:off x="5974972" y="3367069"/>
            <a:ext cx="3841750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5714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2026-02-09T16:41:16Z</dcterms:created>
  <dc:creator>ANDREA LOPES DE OLIVEIRA PENTEADO</dc:creator>
</cp:coreProperties>
</file>