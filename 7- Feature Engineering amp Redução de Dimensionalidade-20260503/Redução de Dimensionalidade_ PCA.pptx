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embeddedFontLs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qyxpfvxh2iJVaOWghrBdN7e+t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OpenSans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88b1e337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3d88b1e337e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88b1e337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3d88b1e337e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88b1e337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d88b1e337e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88b1e337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d88b1e337e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88b1e337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d88b1e337e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88b1e337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d88b1e337e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e12e29d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d8e12e29d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7c3f3d4b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c7c3f3d4b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6c5ff864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d6c5ff8643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6c5ff864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d6c5ff8643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8e12e29d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d8e12e29de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6c5ff86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d6c5ff864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6c5ff8643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d6c5ff8643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88b1e33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d88b1e337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88b1e337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d88b1e337e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88b1e337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d88b1e337e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8e12e29d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d8e12e29de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88b1e337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d88b1e337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8e12e29d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d8e12e29de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8e12e29d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d8e12e29de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1_Slide de Títul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rgbClr val="37BFF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8200" y="365125"/>
            <a:ext cx="930897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9"/>
          <p:cNvSpPr txBox="1"/>
          <p:nvPr>
            <p:ph type="title"/>
          </p:nvPr>
        </p:nvSpPr>
        <p:spPr>
          <a:xfrm>
            <a:off x="831850" y="1709738"/>
            <a:ext cx="904899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831850" y="4589463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839789" y="365125"/>
            <a:ext cx="928075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838200" y="365125"/>
            <a:ext cx="931785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 rot="5400000">
            <a:off x="623678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 rot="5400000">
            <a:off x="1140631" y="-358257"/>
            <a:ext cx="5811838" cy="725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gif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34.png"/><Relationship Id="rId13" Type="http://schemas.openxmlformats.org/officeDocument/2006/relationships/image" Target="../media/image36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9" Type="http://schemas.openxmlformats.org/officeDocument/2006/relationships/image" Target="../media/image35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88b1e337e_0_1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Feature Engineering</a:t>
            </a:r>
            <a:endParaRPr/>
          </a:p>
        </p:txBody>
      </p:sp>
      <p:sp>
        <p:nvSpPr>
          <p:cNvPr id="81" name="Google Shape;81;g3d88b1e337e_0_1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Prof. Eric Tomás Zancanaro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88b1e337e_0_23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Feature Engineering</a:t>
            </a:r>
            <a:endParaRPr/>
          </a:p>
        </p:txBody>
      </p:sp>
      <p:sp>
        <p:nvSpPr>
          <p:cNvPr id="87" name="Google Shape;87;g3d88b1e337e_0_23"/>
          <p:cNvSpPr txBox="1"/>
          <p:nvPr>
            <p:ph idx="1" type="body"/>
          </p:nvPr>
        </p:nvSpPr>
        <p:spPr>
          <a:xfrm>
            <a:off x="838200" y="1977195"/>
            <a:ext cx="9856500" cy="44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i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Imputação</a:t>
            </a:r>
            <a:endParaRPr i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Discretização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Codificação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Transformação de Variável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88b1e337e_0_32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Imputação</a:t>
            </a:r>
            <a:endParaRPr/>
          </a:p>
        </p:txBody>
      </p:sp>
      <p:sp>
        <p:nvSpPr>
          <p:cNvPr id="93" name="Google Shape;93;g3d88b1e337e_0_32"/>
          <p:cNvSpPr txBox="1"/>
          <p:nvPr>
            <p:ph idx="1" type="body"/>
          </p:nvPr>
        </p:nvSpPr>
        <p:spPr>
          <a:xfrm>
            <a:off x="838200" y="1690825"/>
            <a:ext cx="10713600" cy="4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Substituição de Valores Ausentes</a:t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 tendência central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Média:</a:t>
            </a: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Distribuição normal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4" name="Google Shape;94;g3d88b1e337e_0_32"/>
          <p:cNvPicPr preferRelativeResize="0"/>
          <p:nvPr/>
        </p:nvPicPr>
        <p:blipFill rotWithShape="1">
          <a:blip r:embed="rId3">
            <a:alphaModFix/>
          </a:blip>
          <a:srcRect b="0" l="0" r="50040" t="0"/>
          <a:stretch/>
        </p:blipFill>
        <p:spPr>
          <a:xfrm>
            <a:off x="7146880" y="1030925"/>
            <a:ext cx="3919725" cy="34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d88b1e337e_0_32"/>
          <p:cNvPicPr preferRelativeResize="0"/>
          <p:nvPr/>
        </p:nvPicPr>
        <p:blipFill rotWithShape="1">
          <a:blip r:embed="rId3">
            <a:alphaModFix/>
          </a:blip>
          <a:srcRect b="3902" l="50040" r="0" t="0"/>
          <a:stretch/>
        </p:blipFill>
        <p:spPr>
          <a:xfrm>
            <a:off x="7146875" y="1098900"/>
            <a:ext cx="3919725" cy="33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d88b1e337e_0_32"/>
          <p:cNvSpPr txBox="1"/>
          <p:nvPr>
            <p:ph idx="1" type="body"/>
          </p:nvPr>
        </p:nvSpPr>
        <p:spPr>
          <a:xfrm>
            <a:off x="838200" y="1690825"/>
            <a:ext cx="10713600" cy="4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Mediana</a:t>
            </a: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Caso contrário 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Moda</a:t>
            </a: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Variáveis categóricas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Por Amostra aleatória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Preserva a variação do dataset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Por Valor Arbitrário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Repetido para </a:t>
            </a:r>
            <a:r>
              <a:rPr b="1" lang="pt-BR" sz="1790">
                <a:latin typeface="Open Sans"/>
                <a:ea typeface="Open Sans"/>
                <a:cs typeface="Open Sans"/>
                <a:sym typeface="Open Sans"/>
              </a:rPr>
              <a:t>todas </a:t>
            </a: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as observações (-1, 999, etc.)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Indicador Booleano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 adição aos métodos anteriores!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Nota: </a:t>
            </a: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 cenários de ML, a imputação deve ser feita com dados de treinamento e </a:t>
            </a: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propagada</a:t>
            </a: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os dados de teste!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88b1e337e_0_37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Discretização (binning)</a:t>
            </a:r>
            <a:endParaRPr/>
          </a:p>
        </p:txBody>
      </p:sp>
      <p:sp>
        <p:nvSpPr>
          <p:cNvPr id="102" name="Google Shape;102;g3d88b1e337e_0_37"/>
          <p:cNvSpPr txBox="1"/>
          <p:nvPr>
            <p:ph idx="1" type="body"/>
          </p:nvPr>
        </p:nvSpPr>
        <p:spPr>
          <a:xfrm>
            <a:off x="838200" y="1690825"/>
            <a:ext cx="10713600" cy="4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 uma variável contínua em categórica</a:t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Divisão em Intervalos iguais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Cada categoria tem o mesmo tamanho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Idade: [0-10), [10-20), [20-30), etc.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Divisão em Frequências Iguais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Cada categoria tem o mesmo </a:t>
            </a:r>
            <a:r>
              <a:rPr b="1" lang="pt-BR" sz="1790">
                <a:latin typeface="Open Sans"/>
                <a:ea typeface="Open Sans"/>
                <a:cs typeface="Open Sans"/>
                <a:sym typeface="Open Sans"/>
              </a:rPr>
              <a:t>número de observações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Definidas de acordo com os </a:t>
            </a:r>
            <a:r>
              <a:rPr i="1" lang="pt-BR" sz="1790">
                <a:latin typeface="Open Sans"/>
                <a:ea typeface="Open Sans"/>
                <a:cs typeface="Open Sans"/>
                <a:sym typeface="Open Sans"/>
              </a:rPr>
              <a:t>quantis</a:t>
            </a: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 (Q1, Q2, etc.)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Divisão por Conhecimento da Área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Define os intervalos com conhecimento de área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Faixas salariais, faixas de idade, etc.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Divisão por Árvore de Classificação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Utiliza um modelo de ML baseado em árvores de decisão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3" name="Google Shape;103;g3d88b1e337e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0724" y="1042149"/>
            <a:ext cx="5161275" cy="2588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d88b1e337e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4600" y="2711338"/>
            <a:ext cx="4144525" cy="27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88b1e337e_0_42"/>
          <p:cNvSpPr txBox="1"/>
          <p:nvPr>
            <p:ph idx="1" type="body"/>
          </p:nvPr>
        </p:nvSpPr>
        <p:spPr>
          <a:xfrm>
            <a:off x="838200" y="1690825"/>
            <a:ext cx="10713600" cy="4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 uma variável categórica em contínua</a:t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One-Hot encoding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Cria 1 variável para cada categoria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Valores são 1, se é daquela categoria, 0 do contrário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g3d88b1e337e_0_42"/>
          <p:cNvSpPr txBox="1"/>
          <p:nvPr>
            <p:ph idx="1" type="body"/>
          </p:nvPr>
        </p:nvSpPr>
        <p:spPr>
          <a:xfrm>
            <a:off x="838200" y="1690825"/>
            <a:ext cx="10713600" cy="4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Codificação Ordinal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Para categorias ordenadas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Dias da Semana: (Seg=1, Ter=2, etc…)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g3d88b1e337e_0_42"/>
          <p:cNvSpPr txBox="1"/>
          <p:nvPr>
            <p:ph idx="1" type="body"/>
          </p:nvPr>
        </p:nvSpPr>
        <p:spPr>
          <a:xfrm>
            <a:off x="838200" y="1690825"/>
            <a:ext cx="10713600" cy="4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Contagem ou Frequência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Substitui a categoria pelo número de ocorrências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Ou pela frequência da categoria no dataset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g3d88b1e337e_0_42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Codificação (Encoding)</a:t>
            </a:r>
            <a:endParaRPr/>
          </a:p>
        </p:txBody>
      </p:sp>
      <p:pic>
        <p:nvPicPr>
          <p:cNvPr id="113" name="Google Shape;113;g3d88b1e337e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5150" y="2523749"/>
            <a:ext cx="4515526" cy="22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d88b1e337e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5143" y="2523743"/>
            <a:ext cx="4515550" cy="22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d88b1e337e_0_42"/>
          <p:cNvPicPr preferRelativeResize="0"/>
          <p:nvPr/>
        </p:nvPicPr>
        <p:blipFill rotWithShape="1">
          <a:blip r:embed="rId5">
            <a:alphaModFix/>
          </a:blip>
          <a:srcRect b="4949" l="53629" r="1572" t="25150"/>
          <a:stretch/>
        </p:blipFill>
        <p:spPr>
          <a:xfrm>
            <a:off x="7708600" y="3615850"/>
            <a:ext cx="3843201" cy="2352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d88b1e337e_0_42"/>
          <p:cNvPicPr preferRelativeResize="0"/>
          <p:nvPr/>
        </p:nvPicPr>
        <p:blipFill rotWithShape="1">
          <a:blip r:embed="rId5">
            <a:alphaModFix/>
          </a:blip>
          <a:srcRect b="4949" l="0" r="52772" t="25150"/>
          <a:stretch/>
        </p:blipFill>
        <p:spPr>
          <a:xfrm>
            <a:off x="7708588" y="1358075"/>
            <a:ext cx="3888651" cy="22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d88b1e337e_0_42"/>
          <p:cNvSpPr txBox="1"/>
          <p:nvPr>
            <p:ph idx="1" type="body"/>
          </p:nvPr>
        </p:nvSpPr>
        <p:spPr>
          <a:xfrm>
            <a:off x="838200" y="2936375"/>
            <a:ext cx="10713600" cy="3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Weight of Evidence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90"/>
              <a:buFont typeface="Open Sans"/>
              <a:buChar char="•"/>
            </a:pPr>
            <a:r>
              <a:rPr lang="pt-BR" sz="1790">
                <a:latin typeface="Open Sans"/>
                <a:ea typeface="Open Sans"/>
                <a:cs typeface="Open Sans"/>
                <a:sym typeface="Open Sans"/>
              </a:rPr>
              <a:t>ln (P(1) / P(0))</a:t>
            </a:r>
            <a:endParaRPr sz="179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88b1e337e_0_60"/>
          <p:cNvSpPr txBox="1"/>
          <p:nvPr>
            <p:ph idx="1" type="body"/>
          </p:nvPr>
        </p:nvSpPr>
        <p:spPr>
          <a:xfrm>
            <a:off x="838200" y="1690825"/>
            <a:ext cx="10713600" cy="4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Alguns Algoritmos para Codificação de Texto</a:t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One-Hot encoding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Vetores esparsos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Baixa eficiência espacial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Bag of Words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Codificação por frequência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Ignora ordem e gramática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TF-IDF (Term Frequency–Inverse Document Frequency)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TF: Frequência do termo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IDF: Inversão do nº de documentos em que o termo aparece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Embeddings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Vetores de números reais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Word2vec, BERT, GloVe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g3d88b1e337e_0_60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Codificação de Texto</a:t>
            </a:r>
            <a:endParaRPr/>
          </a:p>
        </p:txBody>
      </p:sp>
      <p:pic>
        <p:nvPicPr>
          <p:cNvPr id="124" name="Google Shape;124;g3d88b1e337e_0_60"/>
          <p:cNvPicPr preferRelativeResize="0"/>
          <p:nvPr/>
        </p:nvPicPr>
        <p:blipFill rotWithShape="1">
          <a:blip r:embed="rId3">
            <a:alphaModFix/>
          </a:blip>
          <a:srcRect b="0" l="11144" r="14362" t="33603"/>
          <a:stretch/>
        </p:blipFill>
        <p:spPr>
          <a:xfrm>
            <a:off x="6486600" y="1474525"/>
            <a:ext cx="5705400" cy="272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8e12e29de_0_2"/>
          <p:cNvSpPr txBox="1"/>
          <p:nvPr>
            <p:ph idx="1" type="body"/>
          </p:nvPr>
        </p:nvSpPr>
        <p:spPr>
          <a:xfrm>
            <a:off x="838200" y="1690825"/>
            <a:ext cx="6857100" cy="4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Transformação por Raiz Quadrada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Substitui x por sqrt(x)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Mais suave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g3d8e12e29de_0_2"/>
          <p:cNvSpPr txBox="1"/>
          <p:nvPr>
            <p:ph idx="1" type="body"/>
          </p:nvPr>
        </p:nvSpPr>
        <p:spPr>
          <a:xfrm>
            <a:off x="838200" y="1690825"/>
            <a:ext cx="6857100" cy="4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Transformação de Variáveis Numéricas</a:t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Objetiva “estabilizar” os dados, ou modificar a distribuição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Transformação </a:t>
            </a: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Logarítmica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Substitui x por log(x)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Comprime valores muito altos 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Expande valores baixos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g3d8e12e29de_0_2"/>
          <p:cNvSpPr txBox="1"/>
          <p:nvPr>
            <p:ph idx="1" type="body"/>
          </p:nvPr>
        </p:nvSpPr>
        <p:spPr>
          <a:xfrm>
            <a:off x="838200" y="1690825"/>
            <a:ext cx="6857100" cy="4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Transformação Recíproca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Substituímos x por 1/x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 L/Km em Km/L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g3d8e12e29de_0_2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Transformação de Variável</a:t>
            </a:r>
            <a:endParaRPr/>
          </a:p>
        </p:txBody>
      </p:sp>
      <p:pic>
        <p:nvPicPr>
          <p:cNvPr id="133" name="Google Shape;133;g3d8e12e29de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1775" y="2600875"/>
            <a:ext cx="5374450" cy="381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Redução de Dimensionalidade: PCA</a:t>
            </a:r>
            <a:endParaRPr/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Prof. Eric Tomás Zancanaro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7c3f3d4bf_0_12"/>
          <p:cNvSpPr txBox="1"/>
          <p:nvPr>
            <p:ph idx="1" type="body"/>
          </p:nvPr>
        </p:nvSpPr>
        <p:spPr>
          <a:xfrm>
            <a:off x="838200" y="1460675"/>
            <a:ext cx="111672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Considere o gráfico abaixo: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g3c7c3f3d4bf_0_12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Maldição da Dimensionalidade</a:t>
            </a:r>
            <a:endParaRPr/>
          </a:p>
        </p:txBody>
      </p:sp>
      <p:pic>
        <p:nvPicPr>
          <p:cNvPr id="146" name="Google Shape;146;g3c7c3f3d4bf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07225"/>
            <a:ext cx="8507974" cy="485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c7c3f3d4bf_0_12"/>
          <p:cNvSpPr txBox="1"/>
          <p:nvPr>
            <p:ph idx="1" type="body"/>
          </p:nvPr>
        </p:nvSpPr>
        <p:spPr>
          <a:xfrm>
            <a:off x="8507975" y="3028463"/>
            <a:ext cx="37263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Quantas colunas eu tenho nesse dataset?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g3c7c3f3d4bf_0_12"/>
          <p:cNvSpPr txBox="1"/>
          <p:nvPr>
            <p:ph idx="1" type="body"/>
          </p:nvPr>
        </p:nvSpPr>
        <p:spPr>
          <a:xfrm>
            <a:off x="8507975" y="4095413"/>
            <a:ext cx="37263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Quantas dimensões são representadas?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g3c7c3f3d4bf_0_12"/>
          <p:cNvSpPr txBox="1"/>
          <p:nvPr>
            <p:ph idx="1" type="body"/>
          </p:nvPr>
        </p:nvSpPr>
        <p:spPr>
          <a:xfrm>
            <a:off x="8507975" y="5162363"/>
            <a:ext cx="37263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Quão simples é interpretar esses dados?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6c5ff8643_0_24"/>
          <p:cNvSpPr txBox="1"/>
          <p:nvPr>
            <p:ph idx="1" type="body"/>
          </p:nvPr>
        </p:nvSpPr>
        <p:spPr>
          <a:xfrm>
            <a:off x="838200" y="1460675"/>
            <a:ext cx="111672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para este dataset?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g3d6c5ff8643_0_24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Maldição da Dimensionalidade</a:t>
            </a:r>
            <a:endParaRPr/>
          </a:p>
        </p:txBody>
      </p:sp>
      <p:sp>
        <p:nvSpPr>
          <p:cNvPr id="156" name="Google Shape;156;g3d6c5ff8643_0_24"/>
          <p:cNvSpPr txBox="1"/>
          <p:nvPr>
            <p:ph idx="1" type="body"/>
          </p:nvPr>
        </p:nvSpPr>
        <p:spPr>
          <a:xfrm>
            <a:off x="8507975" y="3028463"/>
            <a:ext cx="37263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Quantas colunas eu tenho nesse dataset?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g3d6c5ff8643_0_24"/>
          <p:cNvSpPr txBox="1"/>
          <p:nvPr>
            <p:ph idx="1" type="body"/>
          </p:nvPr>
        </p:nvSpPr>
        <p:spPr>
          <a:xfrm>
            <a:off x="8507975" y="4095413"/>
            <a:ext cx="37263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Quantas dimensões são representadas?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g3d6c5ff8643_0_24"/>
          <p:cNvSpPr txBox="1"/>
          <p:nvPr>
            <p:ph idx="1" type="body"/>
          </p:nvPr>
        </p:nvSpPr>
        <p:spPr>
          <a:xfrm>
            <a:off x="8507975" y="5162363"/>
            <a:ext cx="37263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Quão simples é interpretar esses dados?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9" name="Google Shape;159;g3d6c5ff8643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987462"/>
            <a:ext cx="6762351" cy="48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6c5ff8643_0_35"/>
          <p:cNvSpPr txBox="1"/>
          <p:nvPr>
            <p:ph idx="1" type="body"/>
          </p:nvPr>
        </p:nvSpPr>
        <p:spPr>
          <a:xfrm>
            <a:off x="838200" y="1460675"/>
            <a:ext cx="111672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se o nosso dataset possui a forma abaixo?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g3d6c5ff8643_0_35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Maldição da Dimensionalidade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6" name="Google Shape;166;g3d6c5ff8643_0_35"/>
          <p:cNvSpPr txBox="1"/>
          <p:nvPr>
            <p:ph idx="1" type="body"/>
          </p:nvPr>
        </p:nvSpPr>
        <p:spPr>
          <a:xfrm>
            <a:off x="944650" y="3523300"/>
            <a:ext cx="93444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Quando a dimensionalidade aumenta, a dispersão dos dados no espaço aumenta como </a:t>
            </a: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consequência</a:t>
            </a: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7" name="Google Shape;167;g3d6c5ff8643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50" y="1906975"/>
            <a:ext cx="577215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d6c5ff8643_0_35"/>
          <p:cNvSpPr txBox="1"/>
          <p:nvPr>
            <p:ph idx="1" type="body"/>
          </p:nvPr>
        </p:nvSpPr>
        <p:spPr>
          <a:xfrm>
            <a:off x="944650" y="4454750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distância entre 2 pontos, escolhidos aleatóriamente é, na média: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0,52 para um quadrado unitário (2D)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0,66 para um cubo (3D)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2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Open Sans"/>
              <a:buChar char="•"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408,25 para um hipercubo com 100.000 de dimensões.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8e12e29de_0_82"/>
          <p:cNvSpPr txBox="1"/>
          <p:nvPr>
            <p:ph idx="1" type="body"/>
          </p:nvPr>
        </p:nvSpPr>
        <p:spPr>
          <a:xfrm>
            <a:off x="838200" y="1460675"/>
            <a:ext cx="111672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Informação não Informacional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g3d8e12e29de_0_82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Maldição da Dimensionalidade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5" name="Google Shape;175;g3d8e12e29de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100" y="2369075"/>
            <a:ext cx="2905125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d8e12e29de_0_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0775" y="2431000"/>
            <a:ext cx="3571875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6c5ff8643_1_0"/>
          <p:cNvSpPr txBox="1"/>
          <p:nvPr>
            <p:ph idx="1" type="body"/>
          </p:nvPr>
        </p:nvSpPr>
        <p:spPr>
          <a:xfrm>
            <a:off x="838200" y="1690825"/>
            <a:ext cx="111672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Projeções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g3d6c5ff8643_1_0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Redução de Dimensionalidade</a:t>
            </a:r>
            <a:endParaRPr/>
          </a:p>
        </p:txBody>
      </p:sp>
      <p:pic>
        <p:nvPicPr>
          <p:cNvPr id="183" name="Google Shape;183;g3d6c5ff8643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25" y="2557700"/>
            <a:ext cx="5627476" cy="36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d6c5ff8643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0825" y="2557700"/>
            <a:ext cx="4332485" cy="36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d6c5ff8643_1_0"/>
          <p:cNvSpPr/>
          <p:nvPr/>
        </p:nvSpPr>
        <p:spPr>
          <a:xfrm>
            <a:off x="6009613" y="3859350"/>
            <a:ext cx="1323000" cy="104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d6c5ff8643_1_0"/>
          <p:cNvSpPr txBox="1"/>
          <p:nvPr>
            <p:ph idx="1" type="body"/>
          </p:nvPr>
        </p:nvSpPr>
        <p:spPr>
          <a:xfrm>
            <a:off x="3821550" y="6078600"/>
            <a:ext cx="52005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escolhemos a projeção mais adequada?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6c5ff8643_1_9"/>
          <p:cNvSpPr txBox="1"/>
          <p:nvPr>
            <p:ph idx="1" type="body"/>
          </p:nvPr>
        </p:nvSpPr>
        <p:spPr>
          <a:xfrm>
            <a:off x="838200" y="1690825"/>
            <a:ext cx="111672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Média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g3d6c5ff8643_1_9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Estatística</a:t>
            </a:r>
            <a:endParaRPr/>
          </a:p>
        </p:txBody>
      </p:sp>
      <p:pic>
        <p:nvPicPr>
          <p:cNvPr id="193" name="Google Shape;193;g3d6c5ff8643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6988" y="1451350"/>
            <a:ext cx="2469625" cy="115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d6c5ff8643_1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6615" y="2852177"/>
            <a:ext cx="3151661" cy="11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d6c5ff8643_1_9"/>
          <p:cNvSpPr txBox="1"/>
          <p:nvPr>
            <p:ph idx="1" type="body"/>
          </p:nvPr>
        </p:nvSpPr>
        <p:spPr>
          <a:xfrm>
            <a:off x="838200" y="3091800"/>
            <a:ext cx="111672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Variância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g3d6c5ff8643_1_9"/>
          <p:cNvSpPr txBox="1"/>
          <p:nvPr>
            <p:ph idx="1" type="body"/>
          </p:nvPr>
        </p:nvSpPr>
        <p:spPr>
          <a:xfrm>
            <a:off x="838200" y="4704938"/>
            <a:ext cx="111672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Covariância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7" name="Google Shape;197;g3d6c5ff8643_1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3550" y="4518263"/>
            <a:ext cx="5172075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88b1e337e_0_0"/>
          <p:cNvSpPr txBox="1"/>
          <p:nvPr>
            <p:ph idx="1" type="body"/>
          </p:nvPr>
        </p:nvSpPr>
        <p:spPr>
          <a:xfrm>
            <a:off x="838200" y="1690825"/>
            <a:ext cx="111672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g3d88b1e337e_0_0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Redução de Dimensionalidade: PCA</a:t>
            </a:r>
            <a:endParaRPr/>
          </a:p>
        </p:txBody>
      </p:sp>
      <p:sp>
        <p:nvSpPr>
          <p:cNvPr id="204" name="Google Shape;204;g3d88b1e337e_0_0"/>
          <p:cNvSpPr txBox="1"/>
          <p:nvPr>
            <p:ph idx="1" type="body"/>
          </p:nvPr>
        </p:nvSpPr>
        <p:spPr>
          <a:xfrm>
            <a:off x="762175" y="5430700"/>
            <a:ext cx="93444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5" name="Google Shape;205;g3d88b1e337e_0_0" title="Principal20Analysis20principal.gif"/>
          <p:cNvPicPr preferRelativeResize="0"/>
          <p:nvPr/>
        </p:nvPicPr>
        <p:blipFill rotWithShape="1">
          <a:blip r:embed="rId3">
            <a:alphaModFix/>
          </a:blip>
          <a:srcRect b="6699" l="32871" r="29746" t="0"/>
          <a:stretch/>
        </p:blipFill>
        <p:spPr>
          <a:xfrm>
            <a:off x="3508072" y="1609950"/>
            <a:ext cx="5175865" cy="51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d88b1e337e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8075" y="1525975"/>
            <a:ext cx="5175850" cy="5264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88b1e337e_0_87"/>
          <p:cNvSpPr txBox="1"/>
          <p:nvPr>
            <p:ph idx="1" type="body"/>
          </p:nvPr>
        </p:nvSpPr>
        <p:spPr>
          <a:xfrm>
            <a:off x="838200" y="1690825"/>
            <a:ext cx="111672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Projeção de um Ponto na Reta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g3d88b1e337e_0_87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Redução de Dimensionalidade: PCA</a:t>
            </a:r>
            <a:endParaRPr/>
          </a:p>
        </p:txBody>
      </p:sp>
      <p:sp>
        <p:nvSpPr>
          <p:cNvPr id="213" name="Google Shape;213;g3d88b1e337e_0_87"/>
          <p:cNvSpPr txBox="1"/>
          <p:nvPr>
            <p:ph idx="1" type="body"/>
          </p:nvPr>
        </p:nvSpPr>
        <p:spPr>
          <a:xfrm>
            <a:off x="838200" y="2728300"/>
            <a:ext cx="26895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Magnitude do vetor V :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4" name="Google Shape;214;g3d88b1e337e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837" y="3213125"/>
            <a:ext cx="283845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d88b1e337e_0_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6300" y="3184550"/>
            <a:ext cx="190500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d88b1e337e_0_87"/>
          <p:cNvSpPr txBox="1"/>
          <p:nvPr>
            <p:ph idx="1" type="body"/>
          </p:nvPr>
        </p:nvSpPr>
        <p:spPr>
          <a:xfrm>
            <a:off x="4179500" y="2728300"/>
            <a:ext cx="28386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Informação preservada: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g3d88b1e337e_0_87"/>
          <p:cNvSpPr txBox="1"/>
          <p:nvPr>
            <p:ph idx="1" type="body"/>
          </p:nvPr>
        </p:nvSpPr>
        <p:spPr>
          <a:xfrm>
            <a:off x="1566800" y="4545175"/>
            <a:ext cx="4874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Objetivo: Maximizar a informação preservada</a:t>
            </a: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!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8" name="Google Shape;218;g3d88b1e337e_0_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1525" y="5324575"/>
            <a:ext cx="30765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d88b1e337e_0_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8100" y="1690825"/>
            <a:ext cx="4708775" cy="479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g3d88b1e337e_0_116"/>
          <p:cNvCxnSpPr>
            <a:stCxn id="225" idx="3"/>
            <a:endCxn id="226" idx="1"/>
          </p:cNvCxnSpPr>
          <p:nvPr/>
        </p:nvCxnSpPr>
        <p:spPr>
          <a:xfrm flipH="1" rot="10800000">
            <a:off x="3213600" y="2709962"/>
            <a:ext cx="1639500" cy="34383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g3d88b1e337e_0_116"/>
          <p:cNvCxnSpPr>
            <a:stCxn id="226" idx="1"/>
            <a:endCxn id="228" idx="1"/>
          </p:cNvCxnSpPr>
          <p:nvPr/>
        </p:nvCxnSpPr>
        <p:spPr>
          <a:xfrm flipH="1">
            <a:off x="4709140" y="2709828"/>
            <a:ext cx="144000" cy="1005900"/>
          </a:xfrm>
          <a:prstGeom prst="curvedConnector3">
            <a:avLst>
              <a:gd fmla="val 26544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g3d88b1e337e_0_116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Redução de Dimensionalidade: PCA</a:t>
            </a:r>
            <a:endParaRPr/>
          </a:p>
        </p:txBody>
      </p:sp>
      <p:sp>
        <p:nvSpPr>
          <p:cNvPr id="230" name="Google Shape;230;g3d88b1e337e_0_116"/>
          <p:cNvSpPr txBox="1"/>
          <p:nvPr>
            <p:ph idx="1" type="body"/>
          </p:nvPr>
        </p:nvSpPr>
        <p:spPr>
          <a:xfrm>
            <a:off x="838200" y="1690825"/>
            <a:ext cx="4874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Objetivo: Maximizar a informação preservada</a:t>
            </a: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!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1" name="Google Shape;231;g3d88b1e337e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379125"/>
            <a:ext cx="2398125" cy="80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d88b1e337e_0_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9525" y="1682913"/>
            <a:ext cx="4708775" cy="47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d88b1e337e_0_1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00" y="3180975"/>
            <a:ext cx="2398125" cy="987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d88b1e337e_0_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200" y="4105800"/>
            <a:ext cx="2398125" cy="76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d88b1e337e_0_1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8200" y="4879651"/>
            <a:ext cx="2485735" cy="80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d88b1e337e_0_1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0925" y="5800600"/>
            <a:ext cx="235267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d88b1e337e_0_116"/>
          <p:cNvPicPr preferRelativeResize="0"/>
          <p:nvPr/>
        </p:nvPicPr>
        <p:blipFill rotWithShape="1">
          <a:blip r:embed="rId9">
            <a:alphaModFix/>
          </a:blip>
          <a:srcRect b="0" l="-4840" r="4840" t="0"/>
          <a:stretch/>
        </p:blipFill>
        <p:spPr>
          <a:xfrm>
            <a:off x="3788575" y="5747341"/>
            <a:ext cx="1616633" cy="80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d88b1e337e_0_1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10130" y="1716113"/>
            <a:ext cx="1026450" cy="54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d88b1e337e_0_1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853140" y="2379125"/>
            <a:ext cx="2485725" cy="661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d88b1e337e_0_1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09031" y="3444689"/>
            <a:ext cx="2629844" cy="54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d88b1e337e_0_11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051435" y="4248476"/>
            <a:ext cx="2228850" cy="72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g3d88b1e337e_0_116"/>
          <p:cNvCxnSpPr>
            <a:stCxn id="231" idx="1"/>
            <a:endCxn id="233" idx="1"/>
          </p:cNvCxnSpPr>
          <p:nvPr/>
        </p:nvCxnSpPr>
        <p:spPr>
          <a:xfrm>
            <a:off x="838200" y="2780050"/>
            <a:ext cx="600" cy="894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g3d88b1e337e_0_116"/>
          <p:cNvCxnSpPr>
            <a:stCxn id="233" idx="1"/>
            <a:endCxn id="234" idx="1"/>
          </p:cNvCxnSpPr>
          <p:nvPr/>
        </p:nvCxnSpPr>
        <p:spPr>
          <a:xfrm>
            <a:off x="838200" y="3674941"/>
            <a:ext cx="600" cy="815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g3d88b1e337e_0_116"/>
          <p:cNvCxnSpPr>
            <a:stCxn id="234" idx="1"/>
            <a:endCxn id="235" idx="1"/>
          </p:cNvCxnSpPr>
          <p:nvPr/>
        </p:nvCxnSpPr>
        <p:spPr>
          <a:xfrm>
            <a:off x="838200" y="4490783"/>
            <a:ext cx="600" cy="789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g3d88b1e337e_0_116"/>
          <p:cNvCxnSpPr>
            <a:stCxn id="235" idx="1"/>
            <a:endCxn id="225" idx="1"/>
          </p:cNvCxnSpPr>
          <p:nvPr/>
        </p:nvCxnSpPr>
        <p:spPr>
          <a:xfrm>
            <a:off x="838200" y="5280576"/>
            <a:ext cx="22800" cy="867600"/>
          </a:xfrm>
          <a:prstGeom prst="curvedConnector3">
            <a:avLst>
              <a:gd fmla="val -10444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g3d88b1e337e_0_116"/>
          <p:cNvCxnSpPr>
            <a:stCxn id="228" idx="1"/>
            <a:endCxn id="238" idx="1"/>
          </p:cNvCxnSpPr>
          <p:nvPr/>
        </p:nvCxnSpPr>
        <p:spPr>
          <a:xfrm>
            <a:off x="4709031" y="3715626"/>
            <a:ext cx="342300" cy="894900"/>
          </a:xfrm>
          <a:prstGeom prst="curvedConnector3">
            <a:avLst>
              <a:gd fmla="val -6956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g3d88b1e337e_0_116"/>
          <p:cNvSpPr txBox="1"/>
          <p:nvPr/>
        </p:nvSpPr>
        <p:spPr>
          <a:xfrm>
            <a:off x="5332450" y="5740425"/>
            <a:ext cx="1383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Covariância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d88b1e337e_0_116"/>
          <p:cNvSpPr/>
          <p:nvPr/>
        </p:nvSpPr>
        <p:spPr>
          <a:xfrm>
            <a:off x="3824375" y="5769900"/>
            <a:ext cx="2792400" cy="748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d88b1e337e_0_116"/>
          <p:cNvSpPr txBox="1"/>
          <p:nvPr/>
        </p:nvSpPr>
        <p:spPr>
          <a:xfrm>
            <a:off x="6331900" y="1762225"/>
            <a:ext cx="882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Lagrange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d88b1e337e_0_116"/>
          <p:cNvSpPr/>
          <p:nvPr/>
        </p:nvSpPr>
        <p:spPr>
          <a:xfrm>
            <a:off x="4709025" y="3122950"/>
            <a:ext cx="2700600" cy="1005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d88b1e337e_0_116"/>
          <p:cNvSpPr txBox="1"/>
          <p:nvPr/>
        </p:nvSpPr>
        <p:spPr>
          <a:xfrm>
            <a:off x="5520425" y="3118625"/>
            <a:ext cx="1531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Gradiente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d88b1e337e_0_116"/>
          <p:cNvSpPr/>
          <p:nvPr/>
        </p:nvSpPr>
        <p:spPr>
          <a:xfrm>
            <a:off x="4922950" y="1682925"/>
            <a:ext cx="2485800" cy="1357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d88b1e337e_0_116"/>
          <p:cNvSpPr txBox="1"/>
          <p:nvPr/>
        </p:nvSpPr>
        <p:spPr>
          <a:xfrm>
            <a:off x="5110125" y="4908225"/>
            <a:ext cx="1843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Autovalores &amp; Autovetores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8e12e29de_0_49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Redução de Dimensionalidade: PCA</a:t>
            </a:r>
            <a:endParaRPr/>
          </a:p>
        </p:txBody>
      </p:sp>
      <p:sp>
        <p:nvSpPr>
          <p:cNvPr id="256" name="Google Shape;256;g3d8e12e29de_0_49"/>
          <p:cNvSpPr txBox="1"/>
          <p:nvPr>
            <p:ph idx="1" type="body"/>
          </p:nvPr>
        </p:nvSpPr>
        <p:spPr>
          <a:xfrm>
            <a:off x="838200" y="1690825"/>
            <a:ext cx="4874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Objetivo: Maximizar a informação preservada</a:t>
            </a:r>
            <a:r>
              <a:rPr lang="pt-BR" sz="17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!</a:t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7" name="Google Shape;257;g3d8e12e29de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9525" y="1682913"/>
            <a:ext cx="4708775" cy="479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d8e12e29de_0_49"/>
          <p:cNvSpPr txBox="1"/>
          <p:nvPr/>
        </p:nvSpPr>
        <p:spPr>
          <a:xfrm>
            <a:off x="838200" y="2470225"/>
            <a:ext cx="6571200" cy="3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Autovalores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Quantidade de informação preservada pela projeção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Autovetores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Direção (eixo) da projeção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 Projeção: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Autovetor associado ao maior autovalor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valor final do atributo projetado é uma </a:t>
            </a:r>
            <a:r>
              <a:rPr b="1"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combinação linear</a:t>
            </a:r>
            <a:r>
              <a:rPr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atributos originais: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g3d8e12e29de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0300" y="5494163"/>
            <a:ext cx="266700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d8e12e29de_0_49"/>
          <p:cNvPicPr preferRelativeResize="0"/>
          <p:nvPr/>
        </p:nvPicPr>
        <p:blipFill rotWithShape="1">
          <a:blip r:embed="rId4">
            <a:alphaModFix/>
          </a:blip>
          <a:srcRect b="0" l="41806" r="41277" t="0"/>
          <a:stretch/>
        </p:blipFill>
        <p:spPr>
          <a:xfrm>
            <a:off x="8052100" y="1455550"/>
            <a:ext cx="45117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d8e12e29de_0_49"/>
          <p:cNvPicPr preferRelativeResize="0"/>
          <p:nvPr/>
        </p:nvPicPr>
        <p:blipFill rotWithShape="1">
          <a:blip r:embed="rId4">
            <a:alphaModFix/>
          </a:blip>
          <a:srcRect b="0" l="83083" r="0" t="0"/>
          <a:stretch/>
        </p:blipFill>
        <p:spPr>
          <a:xfrm>
            <a:off x="11740825" y="5494175"/>
            <a:ext cx="451175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88b1e337e_0_8"/>
          <p:cNvSpPr txBox="1"/>
          <p:nvPr>
            <p:ph idx="1" type="body"/>
          </p:nvPr>
        </p:nvSpPr>
        <p:spPr>
          <a:xfrm>
            <a:off x="838200" y="1690825"/>
            <a:ext cx="11167200" cy="4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AutoNum type="arabicPeriod"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Centralizar os Dados</a:t>
            </a:r>
            <a:b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AutoNum type="arabicPeriod"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Gerar Matriz de Covariância</a:t>
            </a:r>
            <a:b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AutoNum type="arabicPeriod"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Calcular os </a:t>
            </a:r>
            <a:r>
              <a:rPr i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Autovalores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i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Autovetores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matriz</a:t>
            </a:r>
            <a:b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AutoNum type="arabicPeriod"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Ordenar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</a:t>
            </a:r>
            <a:r>
              <a:rPr i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autovetores 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pelos </a:t>
            </a:r>
            <a:r>
              <a:rPr i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autovalores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em ordem decrescente</a:t>
            </a:r>
            <a:b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AutoNum type="arabicPeriod"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primeiro autovetor é o PC1</a:t>
            </a:r>
            <a:b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AutoNum type="arabicPeriod"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Escolhemos o número de PC adequado para nosso objetivo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g3d88b1e337e_0_8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PCA: Passo a Passo</a:t>
            </a:r>
            <a:endParaRPr/>
          </a:p>
        </p:txBody>
      </p:sp>
      <p:sp>
        <p:nvSpPr>
          <p:cNvPr id="268" name="Google Shape;268;g3d88b1e337e_0_8"/>
          <p:cNvSpPr txBox="1"/>
          <p:nvPr>
            <p:ph idx="1" type="body"/>
          </p:nvPr>
        </p:nvSpPr>
        <p:spPr>
          <a:xfrm>
            <a:off x="762175" y="5430700"/>
            <a:ext cx="93444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9" name="Google Shape;269;g3d88b1e337e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9850" y="1367325"/>
            <a:ext cx="2002250" cy="11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8e12e29de_0_93"/>
          <p:cNvSpPr txBox="1"/>
          <p:nvPr>
            <p:ph idx="1" type="body"/>
          </p:nvPr>
        </p:nvSpPr>
        <p:spPr>
          <a:xfrm>
            <a:off x="838200" y="1690825"/>
            <a:ext cx="11167200" cy="4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PCA não seleciona características, mas cria novas!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g3d8e12e29de_0_93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PCA: Passo a Passo</a:t>
            </a:r>
            <a:endParaRPr/>
          </a:p>
        </p:txBody>
      </p:sp>
      <p:sp>
        <p:nvSpPr>
          <p:cNvPr id="276" name="Google Shape;276;g3d8e12e29de_0_93"/>
          <p:cNvSpPr txBox="1"/>
          <p:nvPr>
            <p:ph idx="1" type="body"/>
          </p:nvPr>
        </p:nvSpPr>
        <p:spPr>
          <a:xfrm>
            <a:off x="762175" y="5430700"/>
            <a:ext cx="93444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7" name="Google Shape;277;g3d8e12e29de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088" y="2331503"/>
            <a:ext cx="7208626" cy="402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8e12e29de_0_101"/>
          <p:cNvSpPr txBox="1"/>
          <p:nvPr>
            <p:ph idx="1" type="body"/>
          </p:nvPr>
        </p:nvSpPr>
        <p:spPr>
          <a:xfrm>
            <a:off x="838200" y="1690825"/>
            <a:ext cx="5068200" cy="4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	Gráficos de Scree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	Usual: Manter 60% ou mais da variância explicada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g3d8e12e29de_0_101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PCA: Quantas Dimensões Escolher?</a:t>
            </a:r>
            <a:endParaRPr/>
          </a:p>
        </p:txBody>
      </p:sp>
      <p:sp>
        <p:nvSpPr>
          <p:cNvPr id="284" name="Google Shape;284;g3d8e12e29de_0_101"/>
          <p:cNvSpPr txBox="1"/>
          <p:nvPr>
            <p:ph idx="1" type="body"/>
          </p:nvPr>
        </p:nvSpPr>
        <p:spPr>
          <a:xfrm>
            <a:off x="762175" y="5430700"/>
            <a:ext cx="93444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7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5" name="Google Shape;285;g3d8e12e29de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416" y="2032600"/>
            <a:ext cx="5577150" cy="41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/>
        </p:nvSpPr>
        <p:spPr>
          <a:xfrm>
            <a:off x="5690108" y="4112547"/>
            <a:ext cx="1389508" cy="49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3210 4567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senho de um círculo&#10;&#10;Descrição gerada automaticamente com confiança média" id="292" name="Google Shape;2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2457" y="4234824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3043098" y="3620344"/>
            <a:ext cx="6105803" cy="49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Rua do UniSENAI, 123, Bairro, Cidade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2019-05-13T19:17:28Z</dcterms:created>
  <dc:creator>GUSTAVO CAMPOS BARBOSA</dc:creator>
</cp:coreProperties>
</file>